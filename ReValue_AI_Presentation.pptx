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0:00 - 1:00]</a:t>
            </a:r>
          </a:p>
          <a:p>
            <a:r>
              <a:t>TALKING SCRIPT:</a:t>
            </a:r>
          </a:p>
          <a:p>
            <a:r>
              <a:t>'Good morning respected professors and evaluators. Today I am proud to present ReValue AI — an end-to-end, production-grade Machine Learning platform designed to eliminate information asymmetry in the secondhand electronics marketplace.</a:t>
            </a:r>
          </a:p>
          <a:p>
            <a:r>
              <a:t>ReValue AI is not a simple notebook prototype. It is a full lifecycle engineering system that rigorously benchmarks regularized linear baselines against advanced ensemble trees, integrates unsupervised K-Means clustering and Isolation Forest fraud auditing, and runs live in production with continuous Kolmogorov-Smirnov drift telemetry, covering Course Outcomes CO-1 through CO-6.'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1:00 - 2:00]</a:t>
            </a:r>
          </a:p>
          <a:p>
            <a:r>
              <a:t>TALKING SCRIPT:</a:t>
            </a:r>
          </a:p>
          <a:p>
            <a:r>
              <a:t>'The secondhand smartphone and laptop industry is a multi-billion dollar market plagued by three core challenges: First, information asymmetry. Neither buyers nor sellers know what a device is objectively worth once it leaves the showroom.</a:t>
            </a:r>
          </a:p>
          <a:p>
            <a:r>
              <a:t>Second, electronics depreciation is inherently non-linear. A laptop battery below 80% health drops trade-in value drastically, creating decision boundaries that simple linear formulas fail to capture.</a:t>
            </a:r>
          </a:p>
          <a:p>
            <a:r>
              <a:t>Third, resale portals are vulnerable to fraudulent or corrupted quotes. ReValue AI solves all three using a dual-engine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2:00 - 3:15]</a:t>
            </a:r>
          </a:p>
          <a:p>
            <a:r>
              <a:t>TALKING SCRIPT:</a:t>
            </a:r>
          </a:p>
          <a:p>
            <a:r>
              <a:t>'Moving to Course Outcome CO-1: The ML Lifecycle. The single most fatal bug in production ML is Training-Serving Skew — where preprocessing logic in training drifts away from the serving API.</a:t>
            </a:r>
          </a:p>
          <a:p>
            <a:r>
              <a:t>In ReValue AI, we solved this completely. We encapsulate median imputation, ordinal cosmetic scoring, one-hot category encoders, and standard scalers inside an atomic Scikit-Learn ColumnTransformer pipeline exported as best_model_pipeline.joblib.</a:t>
            </a:r>
          </a:p>
          <a:p>
            <a:r>
              <a:t>Both our FastAPI service and our Streamlit dashboard ingest raw dictionaries directly into this pipeline. There is zero manual feature recalculation in production, guaranteeing mathematical zero skew.'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3:15 - 4:15]</a:t>
            </a:r>
          </a:p>
          <a:p>
            <a:r>
              <a:t>TALKING SCRIPT:</a:t>
            </a:r>
          </a:p>
          <a:p>
            <a:r>
              <a:t>'Rather than using a single black-box model, ReValue AI systematically implements and benchmarks 11 algorithms:</a:t>
            </a:r>
          </a:p>
          <a:p>
            <a:r>
              <a:t>- Supervised Boosting: HistGradientBoosting is our Champion Regressor, leveraging 256 discrete integer bins for split acceleration.</a:t>
            </a:r>
          </a:p>
          <a:p>
            <a:r>
              <a:t>- Supervised Bagging: Random Forest with 150 parallel trees decorrelating variance.</a:t>
            </a:r>
          </a:p>
          <a:p>
            <a:r>
              <a:t>- Regularized Linear: Ridge L2 for multicollinearity and Lasso L1 for coordinate-descent feature sparsity.</a:t>
            </a:r>
          </a:p>
          <a:p>
            <a:r>
              <a:t>- Unsupervised: K-Means++ for latent market tiers and Isolation Forest as our live fraud guardrail.</a:t>
            </a:r>
          </a:p>
          <a:p>
            <a:r>
              <a:t>- Statistical Inference: Paired Student's t-test and Kolmogorov-Smirnov hypothesis testing.'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4:15 - 5:30]</a:t>
            </a:r>
          </a:p>
          <a:p>
            <a:r>
              <a:t>TALKING SCRIPT:</a:t>
            </a:r>
          </a:p>
          <a:p>
            <a:r>
              <a:t>'Under CO-2 and CO-3, we demonstrate why tree ensembles dominate linear models on tabular electronics data.</a:t>
            </a:r>
          </a:p>
          <a:p>
            <a:r>
              <a:t>In linear regression, multicollinearity between RAM, storage, and launch price causes the OLS matrix inversion to become ill-conditioned. Ridge regularization resolves this by adding a spherical L2 penalty alpha * ||w||_2^2, making the matrix strictly invertible.</a:t>
            </a:r>
          </a:p>
          <a:p>
            <a:r>
              <a:t>However, linear hyperplanes cannot capture the sharp cliff where a laptop battery drops below 80% and loses 30% of its value overnight. HistGradientBoosting solves this by constructing axis-aligned orthogonal splits along the degradation boundary. By binning features into 256 discrete bins, split finding speeds up by an order of magnitude.'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5:30 - 6:45]</a:t>
            </a:r>
          </a:p>
          <a:p>
            <a:r>
              <a:t>TALKING SCRIPT:</a:t>
            </a:r>
          </a:p>
          <a:p>
            <a:r>
              <a:t>'Under CO-5, we evaluated all models on an untouched 15% held-out test set of 375 devices. HistGradientBoosting achieved a Test MAE of ₹2,305 ($27.44) and an R² score of 0.9877, beating Ridge by 66.1%.</a:t>
            </a:r>
          </a:p>
          <a:p>
            <a:r>
              <a:t>Critically, in engineering we do not rely on raw metrics alone. We conducted a Paired Student's t-test comparing sample-by-sample errors. The resulting p-value is 2.8 x 10^-49, allowing us to reject the null hypothesis and scientifically prove that our model's superiority is genuine and not an artifact of random sample variance.'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6:45 - 7:45]</a:t>
            </a:r>
          </a:p>
          <a:p>
            <a:r>
              <a:t>TALKING SCRIPT:</a:t>
            </a:r>
          </a:p>
          <a:p>
            <a:r>
              <a:t>'Under CO-4, ReValue AI incorporates two unsupervised algorithms:</a:t>
            </a:r>
          </a:p>
          <a:p>
            <a:r>
              <a:t>First, K-Means++ clustering partitions devices into 4 latent market tiers: Budget Entry, Daily Workhorse, Depreciated Flagship, and Luxury. We validated optimal K using Elbow inertia and Silhouette scores, and visualised the clusters via 2D PCA capturing 67.7% variance.</a:t>
            </a:r>
          </a:p>
          <a:p>
            <a:r>
              <a:t>Second, Isolation Forest serves as our live fraud guardrail. Unlike clustering, Isolation Forest isolates outliers by constructing random binary trees. Because fraudulent quotes have extreme attribute combinations, they require far fewer random splits to isolate. With a contamination rate of 0.04, it intercepts bogus listings before inference touches the pricing engine.'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7:45 - 8:45]</a:t>
            </a:r>
          </a:p>
          <a:p>
            <a:r>
              <a:t>TALKING SCRIPT:</a:t>
            </a:r>
          </a:p>
          <a:p>
            <a:r>
              <a:t>'Under CO-6, we transition from modeling to production ML engineering.</a:t>
            </a:r>
          </a:p>
          <a:p>
            <a:r>
              <a:t>Our FastAPI backend serves predictions with Pydantic payload validation and sub-10ms latency. Every inference is logged into an SQLite database with timestamp, input vector, and output bounds.</a:t>
            </a:r>
          </a:p>
          <a:p>
            <a:r>
              <a:t>To handle data distribution shifts over time, we implemented the non-parametric Two-Sample Kolmogorov-Smirnov test. It monitors continuous maximum CDF distance. If p &lt; 0.05 on two or more features, the system flags covariate drift and triggers the Champion-Challenger retraining pipeline in src/retrain.py, redeploying only if the challenger outperforms our current benchmark.'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8:45 - 9:30]</a:t>
            </a:r>
          </a:p>
          <a:p>
            <a:r>
              <a:t>TALKING SCRIPT:</a:t>
            </a:r>
          </a:p>
          <a:p>
            <a:r>
              <a:t>'The platform is live and accessible online at revalueai-xhrrkbmbuexrswr3ermwnf.streamlit.app. It features five interactive tabs including guided trade-in wizards, deep residual diagnostics, an MLOps command centre for live drift telemetry, and an academic syllabus explorer rendering textbook-grade KaTeX vector math.</a:t>
            </a:r>
          </a:p>
          <a:p>
            <a:r>
              <a:t>All seven unit and integration tests are passing, and our entire service stack boots with a single command: ./start.sh.'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9:30 - 10:00]</a:t>
            </a:r>
          </a:p>
          <a:p>
            <a:r>
              <a:t>TALKING SCRIPT:</a:t>
            </a:r>
          </a:p>
          <a:p>
            <a:r>
              <a:t>'In conclusion, ReValue AI bridges the gap between academic Machine Learning theory and production software engineering. It achieves high empirical accuracy with R² = 0.9877, protects the platform with unsupervised fraud guardrails, and implements proactive MLOps drift telemetry.</a:t>
            </a:r>
          </a:p>
          <a:p>
            <a:r>
              <a:t>Thank you for your time and attention. I am now open to your questions and viva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5303520" cy="411480"/>
          </a:xfrm>
          <a:prstGeom prst="roundRect">
            <a:avLst/>
          </a:prstGeom>
          <a:solidFill>
            <a:srgbClr val="121B30"/>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D4AF37"/>
                </a:solidFill>
              </a:defRPr>
            </a:pPr>
            <a:r>
              <a:t>⚡ PRODUCTION MACHINE LEARNING PLATFORM  •  CO-1 TO CO-6</a:t>
            </a:r>
          </a:p>
        </p:txBody>
      </p:sp>
      <p:sp>
        <p:nvSpPr>
          <p:cNvPr id="4" name="TextBox 3"/>
          <p:cNvSpPr txBox="1"/>
          <p:nvPr/>
        </p:nvSpPr>
        <p:spPr>
          <a:xfrm>
            <a:off x="731520" y="1645920"/>
            <a:ext cx="10515600" cy="2011680"/>
          </a:xfrm>
          <a:prstGeom prst="rect">
            <a:avLst/>
          </a:prstGeom>
          <a:noFill/>
        </p:spPr>
        <p:txBody>
          <a:bodyPr wrap="square">
            <a:spAutoFit/>
          </a:bodyPr>
          <a:lstStyle/>
          <a:p>
            <a:pPr>
              <a:defRPr sz="4600" b="1">
                <a:solidFill>
                  <a:srgbClr val="F1F5F9"/>
                </a:solidFill>
              </a:defRPr>
            </a:pPr>
            <a:r>
              <a:t>ReValue AI</a:t>
            </a:r>
          </a:p>
          <a:p>
            <a:pPr>
              <a:defRPr sz="2200">
                <a:solidFill>
                  <a:srgbClr val="00E599"/>
                </a:solidFill>
              </a:defRPr>
            </a:pPr>
            <a:r>
              <a:t>Intelligent Electronics Resale Valuation &amp; MLOps Platform</a:t>
            </a:r>
          </a:p>
        </p:txBody>
      </p:sp>
      <p:sp>
        <p:nvSpPr>
          <p:cNvPr id="5" name="Rounded Rectangle 4"/>
          <p:cNvSpPr/>
          <p:nvPr/>
        </p:nvSpPr>
        <p:spPr>
          <a:xfrm>
            <a:off x="731520" y="3840480"/>
            <a:ext cx="10698480" cy="2011680"/>
          </a:xfrm>
          <a:prstGeom prst="roundRect">
            <a:avLst/>
          </a:prstGeom>
          <a:solidFill>
            <a:srgbClr val="0D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D4AF37"/>
                </a:solidFill>
              </a:defRPr>
            </a:pPr>
            <a:r>
              <a:t>Key Project Highlights &amp; Architectural Pillars:</a:t>
            </a:r>
          </a:p>
          <a:p>
            <a:pPr>
              <a:spcBef>
                <a:spcPts val="400"/>
              </a:spcBef>
              <a:defRPr sz="1100">
                <a:solidFill>
                  <a:srgbClr val="F1F5F9"/>
                </a:solidFill>
              </a:defRPr>
            </a:pPr>
            <a:r>
              <a:t>🎯 Production Champion Regressor: HistGradientBoosting (R² = 0.9877, Test MAE = ₹2,305 / $27.44) with 256-bin split acceleration.</a:t>
            </a:r>
          </a:p>
          <a:p>
            <a:pPr>
              <a:spcBef>
                <a:spcPts val="400"/>
              </a:spcBef>
              <a:defRPr sz="1100">
                <a:solidFill>
                  <a:srgbClr val="F1F5F9"/>
                </a:solidFill>
              </a:defRPr>
            </a:pPr>
            <a:r>
              <a:t>🛡️ Unsupervised Fraud Guardrail: Isolation Forest anomaly screening catches fraudulent trade-in submissions before inference.</a:t>
            </a:r>
          </a:p>
          <a:p>
            <a:pPr>
              <a:spcBef>
                <a:spcPts val="400"/>
              </a:spcBef>
              <a:defRPr sz="1100">
                <a:solidFill>
                  <a:srgbClr val="F1F5F9"/>
                </a:solidFill>
              </a:defRPr>
            </a:pPr>
            <a:r>
              <a:t>🌐 Dual-Engine Deployment: High-throughput FastAPI REST microservice + Streamlit Cloud interactive valuation studio.</a:t>
            </a:r>
          </a:p>
          <a:p>
            <a:pPr>
              <a:spcBef>
                <a:spcPts val="400"/>
              </a:spcBef>
              <a:defRPr sz="1100">
                <a:solidFill>
                  <a:srgbClr val="F1F5F9"/>
                </a:solidFill>
              </a:defRPr>
            </a:pPr>
            <a:r>
              <a:t>📈 Continuous MLOps Telemetry: Live SQLite logging, Two-Sample Kolmogorov-Smirnov (KS) drift testing, automated retraining loop.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058400" cy="365760"/>
          </a:xfrm>
          <a:prstGeom prst="rect">
            <a:avLst/>
          </a:prstGeom>
          <a:noFill/>
        </p:spPr>
        <p:txBody>
          <a:bodyPr wrap="square">
            <a:spAutoFit/>
          </a:bodyPr>
          <a:lstStyle/>
          <a:p>
            <a:pPr>
              <a:defRPr sz="1100" b="1">
                <a:solidFill>
                  <a:srgbClr val="00E599"/>
                </a:solidFill>
              </a:defRPr>
            </a:pPr>
            <a:r>
              <a:t>MARKET OPPORTUNITY &amp; ENGINEERING NEED</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F1F5F9"/>
                </a:solidFill>
              </a:defRPr>
            </a:pPr>
            <a:r>
              <a:t>The Secondhand Electronics Dilemma</a:t>
            </a:r>
          </a:p>
        </p:txBody>
      </p:sp>
      <p:sp>
        <p:nvSpPr>
          <p:cNvPr id="5" name="Rounded Rectangle 4"/>
          <p:cNvSpPr/>
          <p:nvPr/>
        </p:nvSpPr>
        <p:spPr>
          <a:xfrm>
            <a:off x="731520" y="1645920"/>
            <a:ext cx="3383280" cy="4389120"/>
          </a:xfrm>
          <a:prstGeom prst="roundRect">
            <a:avLst/>
          </a:prstGeom>
          <a:solidFill>
            <a:srgbClr val="0D1424"/>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D4AF37"/>
                </a:solidFill>
              </a:defRPr>
            </a:pPr>
            <a:r>
              <a:t>Information Asymmetry</a:t>
            </a:r>
          </a:p>
          <a:p>
            <a:pPr>
              <a:spcBef>
                <a:spcPts val="1400"/>
              </a:spcBef>
              <a:defRPr sz="1200">
                <a:solidFill>
                  <a:srgbClr val="F1F5F9"/>
                </a:solidFill>
              </a:defRPr>
            </a:pPr>
            <a:r>
              <a:t>Buyers and sellers rely on subjective intuition or fragmented marketplace listings without an empirical baseline for true hardware residual worth.</a:t>
            </a:r>
          </a:p>
        </p:txBody>
      </p:sp>
      <p:sp>
        <p:nvSpPr>
          <p:cNvPr id="6" name="Rounded Rectangle 5"/>
          <p:cNvSpPr/>
          <p:nvPr/>
        </p:nvSpPr>
        <p:spPr>
          <a:xfrm>
            <a:off x="4389120" y="1645920"/>
            <a:ext cx="3383280" cy="4389120"/>
          </a:xfrm>
          <a:prstGeom prst="roundRect">
            <a:avLst/>
          </a:prstGeom>
          <a:solidFill>
            <a:srgbClr val="0D1424"/>
          </a:solidFill>
          <a:ln>
            <a:solidFill>
              <a:srgbClr val="00E5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E599"/>
                </a:solidFill>
              </a:defRPr>
            </a:pPr>
            <a:r>
              <a:t>Discontinuous Hardware Degradation</a:t>
            </a:r>
          </a:p>
          <a:p>
            <a:pPr>
              <a:spcBef>
                <a:spcPts val="1400"/>
              </a:spcBef>
              <a:defRPr sz="1200">
                <a:solidFill>
                  <a:srgbClr val="F1F5F9"/>
                </a:solidFill>
              </a:defRPr>
            </a:pPr>
            <a:r>
              <a:t>Device depreciation is strictly non-linear. Battery degradation sub-80%, physical screen cracks, and missing original chargers create sharp cliff drops.</a:t>
            </a:r>
          </a:p>
        </p:txBody>
      </p:sp>
      <p:sp>
        <p:nvSpPr>
          <p:cNvPr id="7" name="Rounded Rectangle 6"/>
          <p:cNvSpPr/>
          <p:nvPr/>
        </p:nvSpPr>
        <p:spPr>
          <a:xfrm>
            <a:off x="8046720" y="1645920"/>
            <a:ext cx="3383280" cy="4389120"/>
          </a:xfrm>
          <a:prstGeom prst="roundRect">
            <a:avLst/>
          </a:prstGeom>
          <a:solidFill>
            <a:srgbClr val="0D1424"/>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1F5F9"/>
                </a:solidFill>
              </a:defRPr>
            </a:pPr>
            <a:r>
              <a:t>Fraudulent &amp; Bogus Quotes</a:t>
            </a:r>
          </a:p>
          <a:p>
            <a:pPr>
              <a:spcBef>
                <a:spcPts val="1400"/>
              </a:spcBef>
              <a:defRPr sz="1200">
                <a:solidFill>
                  <a:srgbClr val="F1F5F9"/>
                </a:solidFill>
              </a:defRPr>
            </a:pPr>
            <a:r>
              <a:t>Resale portals suffer from quote manipulation (e.g. ₹10,000 for an iPhone 16 Pro Max) that pollutes pricing engines and creates seller fraud.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058400" cy="365760"/>
          </a:xfrm>
          <a:prstGeom prst="rect">
            <a:avLst/>
          </a:prstGeom>
          <a:noFill/>
        </p:spPr>
        <p:txBody>
          <a:bodyPr wrap="square">
            <a:spAutoFit/>
          </a:bodyPr>
          <a:lstStyle/>
          <a:p>
            <a:pPr>
              <a:defRPr sz="1100" b="1">
                <a:solidFill>
                  <a:srgbClr val="00E599"/>
                </a:solidFill>
              </a:defRPr>
            </a:pPr>
            <a:r>
              <a:t>CO-1: ML LIFECYCLE &amp; SYSTEM ARCHITECTURE</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F1F5F9"/>
                </a:solidFill>
              </a:defRPr>
            </a:pPr>
            <a:r>
              <a:t>Zero Training-Serving Skew Microservice Architecture</a:t>
            </a:r>
          </a:p>
        </p:txBody>
      </p:sp>
      <p:sp>
        <p:nvSpPr>
          <p:cNvPr id="5" name="Rounded Rectangle 4"/>
          <p:cNvSpPr/>
          <p:nvPr/>
        </p:nvSpPr>
        <p:spPr>
          <a:xfrm>
            <a:off x="731520" y="1645920"/>
            <a:ext cx="10698480" cy="777240"/>
          </a:xfrm>
          <a:prstGeom prst="roundRect">
            <a:avLst/>
          </a:prstGeom>
          <a:solidFill>
            <a:srgbClr val="0D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E599"/>
                </a:solidFill>
              </a:defRPr>
            </a:pPr>
            <a:r>
              <a:t>1. Data Pipeline  ➔  </a:t>
            </a:r>
            <a:r>
              <a:rPr sz="1100" b="0">
                <a:solidFill>
                  <a:srgbClr val="F1F5F9"/>
                </a:solidFill>
              </a:rPr>
              <a:t>src/data_pipeline.py
Strict 70/15/15 3-way partition (Train / Val / Test). Validation contracts with Pydantic.</a:t>
            </a:r>
          </a:p>
        </p:txBody>
      </p:sp>
      <p:sp>
        <p:nvSpPr>
          <p:cNvPr id="6" name="Rounded Rectangle 5"/>
          <p:cNvSpPr/>
          <p:nvPr/>
        </p:nvSpPr>
        <p:spPr>
          <a:xfrm>
            <a:off x="731520" y="2560320"/>
            <a:ext cx="10698480" cy="777240"/>
          </a:xfrm>
          <a:prstGeom prst="roundRect">
            <a:avLst/>
          </a:prstGeom>
          <a:solidFill>
            <a:srgbClr val="0D1424"/>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E599"/>
                </a:solidFill>
              </a:defRPr>
            </a:pPr>
            <a:r>
              <a:t>2. Atomic Preprocessor  ➔  </a:t>
            </a:r>
            <a:r>
              <a:rPr sz="1100" b="0">
                <a:solidFill>
                  <a:srgbClr val="F1F5F9"/>
                </a:solidFill>
              </a:rPr>
              <a:t>src/features.py
ColumnTransformer bundling One-Hot, Ordinal wear grading, and isotropic StandardScaler into a single artifact.</a:t>
            </a:r>
          </a:p>
        </p:txBody>
      </p:sp>
      <p:sp>
        <p:nvSpPr>
          <p:cNvPr id="7" name="Rounded Rectangle 6"/>
          <p:cNvSpPr/>
          <p:nvPr/>
        </p:nvSpPr>
        <p:spPr>
          <a:xfrm>
            <a:off x="731520" y="3474720"/>
            <a:ext cx="10698480" cy="777240"/>
          </a:xfrm>
          <a:prstGeom prst="roundRect">
            <a:avLst/>
          </a:prstGeom>
          <a:solidFill>
            <a:srgbClr val="0D1424"/>
          </a:solidFill>
          <a:ln>
            <a:solidFill>
              <a:srgbClr val="00E5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E599"/>
                </a:solidFill>
              </a:defRPr>
            </a:pPr>
            <a:r>
              <a:t>3. Model Benchmarking  ➔  </a:t>
            </a:r>
            <a:r>
              <a:rPr sz="1100" b="0">
                <a:solidFill>
                  <a:srgbClr val="F1F5F9"/>
                </a:solidFill>
              </a:rPr>
              <a:t>src/models_training.py
5-Fold cross-validation across 6 algorithms: OLS, Ridge, Lasso, ElasticNet, Random Forest, HistGBDT.</a:t>
            </a:r>
          </a:p>
        </p:txBody>
      </p:sp>
      <p:sp>
        <p:nvSpPr>
          <p:cNvPr id="8" name="Rounded Rectangle 7"/>
          <p:cNvSpPr/>
          <p:nvPr/>
        </p:nvSpPr>
        <p:spPr>
          <a:xfrm>
            <a:off x="731520" y="4389120"/>
            <a:ext cx="10698480" cy="777240"/>
          </a:xfrm>
          <a:prstGeom prst="roundRect">
            <a:avLst/>
          </a:prstGeom>
          <a:solidFill>
            <a:srgbClr val="0D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E599"/>
                </a:solidFill>
              </a:defRPr>
            </a:pPr>
            <a:r>
              <a:t>4. Serving Microservice  ➔  </a:t>
            </a:r>
            <a:r>
              <a:rPr sz="1100" b="0">
                <a:solidFill>
                  <a:srgbClr val="F1F5F9"/>
                </a:solidFill>
              </a:rPr>
              <a:t>src/api.py
FastAPI asynchronous REST service with sub-10ms response times and 90% confidence interval generation.</a:t>
            </a:r>
          </a:p>
        </p:txBody>
      </p:sp>
      <p:sp>
        <p:nvSpPr>
          <p:cNvPr id="9" name="Rounded Rectangle 8"/>
          <p:cNvSpPr/>
          <p:nvPr/>
        </p:nvSpPr>
        <p:spPr>
          <a:xfrm>
            <a:off x="731520" y="5303520"/>
            <a:ext cx="10698480" cy="777240"/>
          </a:xfrm>
          <a:prstGeom prst="roundRect">
            <a:avLst/>
          </a:prstGeom>
          <a:solidFill>
            <a:srgbClr val="0D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E599"/>
                </a:solidFill>
              </a:defRPr>
            </a:pPr>
            <a:r>
              <a:t>5. Telemetry &amp; Retraining  ➔  </a:t>
            </a:r>
            <a:r>
              <a:rPr sz="1100" b="0">
                <a:solidFill>
                  <a:srgbClr val="F1F5F9"/>
                </a:solidFill>
              </a:rPr>
              <a:t>src/monitoring.py &amp; retrain.py
SQLite inference database, 2-Sample Kolmogorov-Smirnov drift detection, automated retraining loop.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058400" cy="365760"/>
          </a:xfrm>
          <a:prstGeom prst="rect">
            <a:avLst/>
          </a:prstGeom>
          <a:noFill/>
        </p:spPr>
        <p:txBody>
          <a:bodyPr wrap="square">
            <a:spAutoFit/>
          </a:bodyPr>
          <a:lstStyle/>
          <a:p>
            <a:pPr>
              <a:defRPr sz="1100" b="1">
                <a:solidFill>
                  <a:srgbClr val="00E599"/>
                </a:solidFill>
              </a:defRPr>
            </a:pPr>
            <a:r>
              <a:t>COMPREHENSIVE ALGORITHM MAPPING</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F1F5F9"/>
                </a:solidFill>
              </a:defRPr>
            </a:pPr>
            <a:r>
              <a:t>11 Algorithms Across the ML Lifecycle</a:t>
            </a:r>
          </a:p>
        </p:txBody>
      </p:sp>
      <p:graphicFrame>
        <p:nvGraphicFramePr>
          <p:cNvPr id="5" name="Table 4"/>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926080"/>
                <a:gridCol w="2103120"/>
                <a:gridCol w="2011680"/>
                <a:gridCol w="3657600"/>
              </a:tblGrid>
              <a:tr h="627017">
                <a:tc>
                  <a:txBody>
                    <a:bodyPr/>
                    <a:lstStyle/>
                    <a:p>
                      <a:pPr>
                        <a:defRPr sz="1100" b="1">
                          <a:solidFill>
                            <a:srgbClr val="D4AF37"/>
                          </a:solidFill>
                        </a:defRPr>
                      </a:pPr>
                      <a:r>
                        <a:t>Algorithm</a:t>
                      </a:r>
                    </a:p>
                  </a:txBody>
                  <a:tcPr>
                    <a:solidFill>
                      <a:srgbClr val="121B30"/>
                    </a:solidFill>
                  </a:tcPr>
                </a:tc>
                <a:tc>
                  <a:txBody>
                    <a:bodyPr/>
                    <a:lstStyle/>
                    <a:p>
                      <a:pPr>
                        <a:defRPr sz="1100" b="1">
                          <a:solidFill>
                            <a:srgbClr val="D4AF37"/>
                          </a:solidFill>
                        </a:defRPr>
                      </a:pPr>
                      <a:r>
                        <a:t>Learning Paradigm</a:t>
                      </a:r>
                    </a:p>
                  </a:txBody>
                  <a:tcPr>
                    <a:solidFill>
                      <a:srgbClr val="121B30"/>
                    </a:solidFill>
                  </a:tcPr>
                </a:tc>
                <a:tc>
                  <a:txBody>
                    <a:bodyPr/>
                    <a:lstStyle/>
                    <a:p>
                      <a:pPr>
                        <a:defRPr sz="1100" b="1">
                          <a:solidFill>
                            <a:srgbClr val="D4AF37"/>
                          </a:solidFill>
                        </a:defRPr>
                      </a:pPr>
                      <a:r>
                        <a:t>Code Location</a:t>
                      </a:r>
                    </a:p>
                  </a:txBody>
                  <a:tcPr>
                    <a:solidFill>
                      <a:srgbClr val="121B30"/>
                    </a:solidFill>
                  </a:tcPr>
                </a:tc>
                <a:tc>
                  <a:txBody>
                    <a:bodyPr/>
                    <a:lstStyle/>
                    <a:p>
                      <a:pPr>
                        <a:defRPr sz="1100" b="1">
                          <a:solidFill>
                            <a:srgbClr val="D4AF37"/>
                          </a:solidFill>
                        </a:defRPr>
                      </a:pPr>
                      <a:r>
                        <a:t>Why Used in ReValue AI</a:t>
                      </a:r>
                    </a:p>
                  </a:txBody>
                  <a:tcPr>
                    <a:solidFill>
                      <a:srgbClr val="121B30"/>
                    </a:solidFill>
                  </a:tcPr>
                </a:tc>
              </a:tr>
              <a:tr h="627017">
                <a:tc>
                  <a:txBody>
                    <a:bodyPr/>
                    <a:lstStyle/>
                    <a:p>
                      <a:pPr>
                        <a:defRPr sz="1000">
                          <a:solidFill>
                            <a:srgbClr val="00E599"/>
                          </a:solidFill>
                        </a:defRPr>
                      </a:pPr>
                      <a:r>
                        <a:t>HistGradientBoosting (Champion)</a:t>
                      </a:r>
                    </a:p>
                  </a:txBody>
                  <a:tcPr>
                    <a:solidFill>
                      <a:srgbClr val="0D1424"/>
                    </a:solidFill>
                  </a:tcPr>
                </a:tc>
                <a:tc>
                  <a:txBody>
                    <a:bodyPr/>
                    <a:lstStyle/>
                    <a:p>
                      <a:pPr>
                        <a:defRPr sz="1000">
                          <a:solidFill>
                            <a:srgbClr val="F1F5F9"/>
                          </a:solidFill>
                        </a:defRPr>
                      </a:pPr>
                      <a:r>
                        <a:t>Supervised Regression (Boosting)</a:t>
                      </a:r>
                    </a:p>
                  </a:txBody>
                  <a:tcPr>
                    <a:solidFill>
                      <a:srgbClr val="0D1424"/>
                    </a:solidFill>
                  </a:tcPr>
                </a:tc>
                <a:tc>
                  <a:txBody>
                    <a:bodyPr/>
                    <a:lstStyle/>
                    <a:p>
                      <a:pPr>
                        <a:defRPr sz="1000">
                          <a:solidFill>
                            <a:srgbClr val="F1F5F9"/>
                          </a:solidFill>
                        </a:defRPr>
                      </a:pPr>
                      <a:r>
                        <a:t>src/models_training.py</a:t>
                      </a:r>
                    </a:p>
                  </a:txBody>
                  <a:tcPr>
                    <a:solidFill>
                      <a:srgbClr val="0D1424"/>
                    </a:solidFill>
                  </a:tcPr>
                </a:tc>
                <a:tc>
                  <a:txBody>
                    <a:bodyPr/>
                    <a:lstStyle/>
                    <a:p>
                      <a:pPr>
                        <a:defRPr sz="1000">
                          <a:solidFill>
                            <a:srgbClr val="F1F5F9"/>
                          </a:solidFill>
                        </a:defRPr>
                      </a:pPr>
                      <a:r>
                        <a:t>Production Champion Model (R²=0.9877, MAE=₹2,305). 256-binning.</a:t>
                      </a:r>
                    </a:p>
                  </a:txBody>
                  <a:tcPr>
                    <a:solidFill>
                      <a:srgbClr val="0D1424"/>
                    </a:solidFill>
                  </a:tcPr>
                </a:tc>
              </a:tr>
              <a:tr h="627017">
                <a:tc>
                  <a:txBody>
                    <a:bodyPr/>
                    <a:lstStyle/>
                    <a:p>
                      <a:pPr>
                        <a:defRPr sz="1000">
                          <a:solidFill>
                            <a:srgbClr val="00E599"/>
                          </a:solidFill>
                        </a:defRPr>
                      </a:pPr>
                      <a:r>
                        <a:t>Random Forest Regressor</a:t>
                      </a:r>
                    </a:p>
                  </a:txBody>
                  <a:tcPr>
                    <a:solidFill>
                      <a:srgbClr val="121B30"/>
                    </a:solidFill>
                  </a:tcPr>
                </a:tc>
                <a:tc>
                  <a:txBody>
                    <a:bodyPr/>
                    <a:lstStyle/>
                    <a:p>
                      <a:pPr>
                        <a:defRPr sz="1000">
                          <a:solidFill>
                            <a:srgbClr val="F1F5F9"/>
                          </a:solidFill>
                        </a:defRPr>
                      </a:pPr>
                      <a:r>
                        <a:t>Supervised Regression (Bagging)</a:t>
                      </a:r>
                    </a:p>
                  </a:txBody>
                  <a:tcPr>
                    <a:solidFill>
                      <a:srgbClr val="121B30"/>
                    </a:solidFill>
                  </a:tcPr>
                </a:tc>
                <a:tc>
                  <a:txBody>
                    <a:bodyPr/>
                    <a:lstStyle/>
                    <a:p>
                      <a:pPr>
                        <a:defRPr sz="1000">
                          <a:solidFill>
                            <a:srgbClr val="F1F5F9"/>
                          </a:solidFill>
                        </a:defRPr>
                      </a:pPr>
                      <a:r>
                        <a:t>src/models_training.py</a:t>
                      </a:r>
                    </a:p>
                  </a:txBody>
                  <a:tcPr>
                    <a:solidFill>
                      <a:srgbClr val="121B30"/>
                    </a:solidFill>
                  </a:tcPr>
                </a:tc>
                <a:tc>
                  <a:txBody>
                    <a:bodyPr/>
                    <a:lstStyle/>
                    <a:p>
                      <a:pPr>
                        <a:defRPr sz="1000">
                          <a:solidFill>
                            <a:srgbClr val="F1F5F9"/>
                          </a:solidFill>
                        </a:defRPr>
                      </a:pPr>
                      <a:r>
                        <a:t>Ensemble baseline (150 trees, sqrt(p) feature decorrelation).</a:t>
                      </a:r>
                    </a:p>
                  </a:txBody>
                  <a:tcPr>
                    <a:solidFill>
                      <a:srgbClr val="121B30"/>
                    </a:solidFill>
                  </a:tcPr>
                </a:tc>
              </a:tr>
              <a:tr h="627017">
                <a:tc>
                  <a:txBody>
                    <a:bodyPr/>
                    <a:lstStyle/>
                    <a:p>
                      <a:pPr>
                        <a:defRPr sz="1000">
                          <a:solidFill>
                            <a:srgbClr val="00E599"/>
                          </a:solidFill>
                        </a:defRPr>
                      </a:pPr>
                      <a:r>
                        <a:t>Ridge Regression (L2)</a:t>
                      </a:r>
                    </a:p>
                  </a:txBody>
                  <a:tcPr>
                    <a:solidFill>
                      <a:srgbClr val="0D1424"/>
                    </a:solidFill>
                  </a:tcPr>
                </a:tc>
                <a:tc>
                  <a:txBody>
                    <a:bodyPr/>
                    <a:lstStyle/>
                    <a:p>
                      <a:pPr>
                        <a:defRPr sz="1000">
                          <a:solidFill>
                            <a:srgbClr val="F1F5F9"/>
                          </a:solidFill>
                        </a:defRPr>
                      </a:pPr>
                      <a:r>
                        <a:t>Supervised Linear (L2 Penalized)</a:t>
                      </a:r>
                    </a:p>
                  </a:txBody>
                  <a:tcPr>
                    <a:solidFill>
                      <a:srgbClr val="0D1424"/>
                    </a:solidFill>
                  </a:tcPr>
                </a:tc>
                <a:tc>
                  <a:txBody>
                    <a:bodyPr/>
                    <a:lstStyle/>
                    <a:p>
                      <a:pPr>
                        <a:defRPr sz="1000">
                          <a:solidFill>
                            <a:srgbClr val="F1F5F9"/>
                          </a:solidFill>
                        </a:defRPr>
                      </a:pPr>
                      <a:r>
                        <a:t>src/models_training.py</a:t>
                      </a:r>
                    </a:p>
                  </a:txBody>
                  <a:tcPr>
                    <a:solidFill>
                      <a:srgbClr val="0D1424"/>
                    </a:solidFill>
                  </a:tcPr>
                </a:tc>
                <a:tc>
                  <a:txBody>
                    <a:bodyPr/>
                    <a:lstStyle/>
                    <a:p>
                      <a:pPr>
                        <a:defRPr sz="1000">
                          <a:solidFill>
                            <a:srgbClr val="F1F5F9"/>
                          </a:solidFill>
                        </a:defRPr>
                      </a:pPr>
                      <a:r>
                        <a:t>Linear baseline; resolves ill-conditioned collinear hardware inversion.</a:t>
                      </a:r>
                    </a:p>
                  </a:txBody>
                  <a:tcPr>
                    <a:solidFill>
                      <a:srgbClr val="0D1424"/>
                    </a:solidFill>
                  </a:tcPr>
                </a:tc>
              </a:tr>
              <a:tr h="627017">
                <a:tc>
                  <a:txBody>
                    <a:bodyPr/>
                    <a:lstStyle/>
                    <a:p>
                      <a:pPr>
                        <a:defRPr sz="1000">
                          <a:solidFill>
                            <a:srgbClr val="00E599"/>
                          </a:solidFill>
                        </a:defRPr>
                      </a:pPr>
                      <a:r>
                        <a:t>Lasso Regression (L1)</a:t>
                      </a:r>
                    </a:p>
                  </a:txBody>
                  <a:tcPr>
                    <a:solidFill>
                      <a:srgbClr val="121B30"/>
                    </a:solidFill>
                  </a:tcPr>
                </a:tc>
                <a:tc>
                  <a:txBody>
                    <a:bodyPr/>
                    <a:lstStyle/>
                    <a:p>
                      <a:pPr>
                        <a:defRPr sz="1000">
                          <a:solidFill>
                            <a:srgbClr val="F1F5F9"/>
                          </a:solidFill>
                        </a:defRPr>
                      </a:pPr>
                      <a:r>
                        <a:t>Supervised Linear (L1 Sparse)</a:t>
                      </a:r>
                    </a:p>
                  </a:txBody>
                  <a:tcPr>
                    <a:solidFill>
                      <a:srgbClr val="121B30"/>
                    </a:solidFill>
                  </a:tcPr>
                </a:tc>
                <a:tc>
                  <a:txBody>
                    <a:bodyPr/>
                    <a:lstStyle/>
                    <a:p>
                      <a:pPr>
                        <a:defRPr sz="1000">
                          <a:solidFill>
                            <a:srgbClr val="F1F5F9"/>
                          </a:solidFill>
                        </a:defRPr>
                      </a:pPr>
                      <a:r>
                        <a:t>src/models_training.py</a:t>
                      </a:r>
                    </a:p>
                  </a:txBody>
                  <a:tcPr>
                    <a:solidFill>
                      <a:srgbClr val="121B30"/>
                    </a:solidFill>
                  </a:tcPr>
                </a:tc>
                <a:tc>
                  <a:txBody>
                    <a:bodyPr/>
                    <a:lstStyle/>
                    <a:p>
                      <a:pPr>
                        <a:defRPr sz="1000">
                          <a:solidFill>
                            <a:srgbClr val="F1F5F9"/>
                          </a:solidFill>
                        </a:defRPr>
                      </a:pPr>
                      <a:r>
                        <a:t>Automated feature sparsity; drives redundant coefficients to zero.</a:t>
                      </a:r>
                    </a:p>
                  </a:txBody>
                  <a:tcPr>
                    <a:solidFill>
                      <a:srgbClr val="121B30"/>
                    </a:solidFill>
                  </a:tcPr>
                </a:tc>
              </a:tr>
              <a:tr h="627017">
                <a:tc>
                  <a:txBody>
                    <a:bodyPr/>
                    <a:lstStyle/>
                    <a:p>
                      <a:pPr>
                        <a:defRPr sz="1000">
                          <a:solidFill>
                            <a:srgbClr val="00E599"/>
                          </a:solidFill>
                        </a:defRPr>
                      </a:pPr>
                      <a:r>
                        <a:t>K-Means Clustering (K-Means++)</a:t>
                      </a:r>
                    </a:p>
                  </a:txBody>
                  <a:tcPr>
                    <a:solidFill>
                      <a:srgbClr val="0D1424"/>
                    </a:solidFill>
                  </a:tcPr>
                </a:tc>
                <a:tc>
                  <a:txBody>
                    <a:bodyPr/>
                    <a:lstStyle/>
                    <a:p>
                      <a:pPr>
                        <a:defRPr sz="1000">
                          <a:solidFill>
                            <a:srgbClr val="F1F5F9"/>
                          </a:solidFill>
                        </a:defRPr>
                      </a:pPr>
                      <a:r>
                        <a:t>Unsupervised Partitioning</a:t>
                      </a:r>
                    </a:p>
                  </a:txBody>
                  <a:tcPr>
                    <a:solidFill>
                      <a:srgbClr val="0D1424"/>
                    </a:solidFill>
                  </a:tcPr>
                </a:tc>
                <a:tc>
                  <a:txBody>
                    <a:bodyPr/>
                    <a:lstStyle/>
                    <a:p>
                      <a:pPr>
                        <a:defRPr sz="1000">
                          <a:solidFill>
                            <a:srgbClr val="F1F5F9"/>
                          </a:solidFill>
                        </a:defRPr>
                      </a:pPr>
                      <a:r>
                        <a:t>src/unsupervised.py</a:t>
                      </a:r>
                    </a:p>
                  </a:txBody>
                  <a:tcPr>
                    <a:solidFill>
                      <a:srgbClr val="0D1424"/>
                    </a:solidFill>
                  </a:tcPr>
                </a:tc>
                <a:tc>
                  <a:txBody>
                    <a:bodyPr/>
                    <a:lstStyle/>
                    <a:p>
                      <a:pPr>
                        <a:defRPr sz="1000">
                          <a:solidFill>
                            <a:srgbClr val="F1F5F9"/>
                          </a:solidFill>
                        </a:defRPr>
                      </a:pPr>
                      <a:r>
                        <a:t>Latent market tier segmentation (K=4 market clusters).</a:t>
                      </a:r>
                    </a:p>
                  </a:txBody>
                  <a:tcPr>
                    <a:solidFill>
                      <a:srgbClr val="0D1424"/>
                    </a:solidFill>
                  </a:tcPr>
                </a:tc>
              </a:tr>
              <a:tr h="627018">
                <a:tc>
                  <a:txBody>
                    <a:bodyPr/>
                    <a:lstStyle/>
                    <a:p>
                      <a:pPr>
                        <a:defRPr sz="1000">
                          <a:solidFill>
                            <a:srgbClr val="00E599"/>
                          </a:solidFill>
                        </a:defRPr>
                      </a:pPr>
                      <a:r>
                        <a:t>Isolation Forest (iTrees)</a:t>
                      </a:r>
                    </a:p>
                  </a:txBody>
                  <a:tcPr>
                    <a:solidFill>
                      <a:srgbClr val="121B30"/>
                    </a:solidFill>
                  </a:tcPr>
                </a:tc>
                <a:tc>
                  <a:txBody>
                    <a:bodyPr/>
                    <a:lstStyle/>
                    <a:p>
                      <a:pPr>
                        <a:defRPr sz="1000">
                          <a:solidFill>
                            <a:srgbClr val="F1F5F9"/>
                          </a:solidFill>
                        </a:defRPr>
                      </a:pPr>
                      <a:r>
                        <a:t>Unsupervised Anomaly</a:t>
                      </a:r>
                    </a:p>
                  </a:txBody>
                  <a:tcPr>
                    <a:solidFill>
                      <a:srgbClr val="121B30"/>
                    </a:solidFill>
                  </a:tcPr>
                </a:tc>
                <a:tc>
                  <a:txBody>
                    <a:bodyPr/>
                    <a:lstStyle/>
                    <a:p>
                      <a:pPr>
                        <a:defRPr sz="1000">
                          <a:solidFill>
                            <a:srgbClr val="F1F5F9"/>
                          </a:solidFill>
                        </a:defRPr>
                      </a:pPr>
                      <a:r>
                        <a:t>src/unsupervised.py</a:t>
                      </a:r>
                    </a:p>
                  </a:txBody>
                  <a:tcPr>
                    <a:solidFill>
                      <a:srgbClr val="121B30"/>
                    </a:solidFill>
                  </a:tcPr>
                </a:tc>
                <a:tc>
                  <a:txBody>
                    <a:bodyPr/>
                    <a:lstStyle/>
                    <a:p>
                      <a:pPr>
                        <a:defRPr sz="1000">
                          <a:solidFill>
                            <a:srgbClr val="F1F5F9"/>
                          </a:solidFill>
                        </a:defRPr>
                      </a:pPr>
                      <a:r>
                        <a:t>Real-time fraud audit; isolates corrupt/bogus quote submissions.</a:t>
                      </a:r>
                    </a:p>
                  </a:txBody>
                  <a:tcPr>
                    <a:solidFill>
                      <a:srgbClr val="121B30"/>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058400" cy="365760"/>
          </a:xfrm>
          <a:prstGeom prst="rect">
            <a:avLst/>
          </a:prstGeom>
          <a:noFill/>
        </p:spPr>
        <p:txBody>
          <a:bodyPr wrap="square">
            <a:spAutoFit/>
          </a:bodyPr>
          <a:lstStyle/>
          <a:p>
            <a:pPr>
              <a:defRPr sz="1100" b="1">
                <a:solidFill>
                  <a:srgbClr val="00E599"/>
                </a:solidFill>
              </a:defRPr>
            </a:pPr>
            <a:r>
              <a:t>CO-2 &amp; CO-3: SUPERVISED REGRESSION BENCHMARK</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F1F5F9"/>
                </a:solidFill>
              </a:defRPr>
            </a:pPr>
            <a:r>
              <a:t>Linear Models vs. Tree Ensembles: The Mathematical Split</a:t>
            </a:r>
          </a:p>
        </p:txBody>
      </p:sp>
      <p:sp>
        <p:nvSpPr>
          <p:cNvPr id="5" name="Rounded Rectangle 4"/>
          <p:cNvSpPr/>
          <p:nvPr/>
        </p:nvSpPr>
        <p:spPr>
          <a:xfrm>
            <a:off x="731520" y="1645920"/>
            <a:ext cx="5120640" cy="4389120"/>
          </a:xfrm>
          <a:prstGeom prst="roundRect">
            <a:avLst/>
          </a:prstGeom>
          <a:solidFill>
            <a:srgbClr val="0D1424"/>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D4AF37"/>
                </a:solidFill>
              </a:defRPr>
            </a:pPr>
            <a:r>
              <a:t>Linear Models (CO-2)</a:t>
            </a:r>
          </a:p>
          <a:p>
            <a:pPr>
              <a:spcBef>
                <a:spcPts val="800"/>
              </a:spcBef>
              <a:defRPr sz="1100">
                <a:solidFill>
                  <a:srgbClr val="F1F5F9"/>
                </a:solidFill>
              </a:defRPr>
            </a:pPr>
            <a:r>
              <a:t>• OLS Normal Equations: w = (X^T X)^-1 X^T y. Suffers severe multicollinearity (RAM, Storage, Retail Price).</a:t>
            </a:r>
          </a:p>
          <a:p>
            <a:pPr>
              <a:spcBef>
                <a:spcPts val="800"/>
              </a:spcBef>
              <a:defRPr sz="1100">
                <a:solidFill>
                  <a:srgbClr val="F1F5F9"/>
                </a:solidFill>
              </a:defRPr>
            </a:pPr>
            <a:r>
              <a:t>• Ridge (L2 Penalty): Adds alpha * ||w||_2^2. Guarantees (X^T X + alpha I) is strictly invertible and well-conditioned.</a:t>
            </a:r>
          </a:p>
          <a:p>
            <a:pPr>
              <a:spcBef>
                <a:spcPts val="800"/>
              </a:spcBef>
              <a:defRPr sz="1100">
                <a:solidFill>
                  <a:srgbClr val="F1F5F9"/>
                </a:solidFill>
              </a:defRPr>
            </a:pPr>
            <a:r>
              <a:t>• Lasso (L1 Penalty): Adds alpha * ||w||_1. Sharp diamond corners force non-informative coefficients to exactly 0.</a:t>
            </a:r>
          </a:p>
          <a:p>
            <a:pPr>
              <a:spcBef>
                <a:spcPts val="800"/>
              </a:spcBef>
              <a:defRPr sz="1100">
                <a:solidFill>
                  <a:srgbClr val="F1F5F9"/>
                </a:solidFill>
              </a:defRPr>
            </a:pPr>
            <a:r>
              <a:t>• Mandatory StandardScaler: Isotropic scaling ensures penalization is uniform across gigabytes and binary wear flags.</a:t>
            </a:r>
          </a:p>
          <a:p>
            <a:pPr>
              <a:spcBef>
                <a:spcPts val="800"/>
              </a:spcBef>
              <a:defRPr sz="1100">
                <a:solidFill>
                  <a:srgbClr val="F1F5F9"/>
                </a:solidFill>
              </a:defRPr>
            </a:pPr>
            <a:r>
              <a:t>• Limitation: Unable to model non-linear hardware cliffs (e.g. sub-80% battery threshold).</a:t>
            </a:r>
          </a:p>
        </p:txBody>
      </p:sp>
      <p:sp>
        <p:nvSpPr>
          <p:cNvPr id="6" name="Rounded Rectangle 5"/>
          <p:cNvSpPr/>
          <p:nvPr/>
        </p:nvSpPr>
        <p:spPr>
          <a:xfrm>
            <a:off x="6309360" y="1645920"/>
            <a:ext cx="5120640" cy="4389120"/>
          </a:xfrm>
          <a:prstGeom prst="roundRect">
            <a:avLst/>
          </a:prstGeom>
          <a:solidFill>
            <a:srgbClr val="0D1424"/>
          </a:solidFill>
          <a:ln>
            <a:solidFill>
              <a:srgbClr val="00E5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E599"/>
                </a:solidFill>
              </a:defRPr>
            </a:pPr>
            <a:r>
              <a:t>Tree Ensembles (CO-3)</a:t>
            </a:r>
          </a:p>
          <a:p>
            <a:pPr>
              <a:spcBef>
                <a:spcPts val="800"/>
              </a:spcBef>
              <a:defRPr sz="1100">
                <a:solidFill>
                  <a:srgbClr val="F1F5F9"/>
                </a:solidFill>
              </a:defRPr>
            </a:pPr>
            <a:r>
              <a:t>• Random Forest: Bagging ensemble of 150 deep, low-bias trees with sqrt(p) feature subsampling to minimize correlation.</a:t>
            </a:r>
          </a:p>
          <a:p>
            <a:pPr>
              <a:spcBef>
                <a:spcPts val="800"/>
              </a:spcBef>
              <a:defRPr sz="1100">
                <a:solidFill>
                  <a:srgbClr val="F1F5F9"/>
                </a:solidFill>
              </a:defRPr>
            </a:pPr>
            <a:r>
              <a:t>• HistGradientBoosting: Sequential additive boosting with shrinkage (eta = 0.08) fitting pseudo-residuals.</a:t>
            </a:r>
          </a:p>
          <a:p>
            <a:pPr>
              <a:spcBef>
                <a:spcPts val="800"/>
              </a:spcBef>
              <a:defRPr sz="1100">
                <a:solidFill>
                  <a:srgbClr val="F1F5F9"/>
                </a:solidFill>
              </a:defRPr>
            </a:pPr>
            <a:r>
              <a:t>• Histogram Binning: Bins continuous features into 256 integer bins, accelerating node split evaluation by 10x.</a:t>
            </a:r>
          </a:p>
          <a:p>
            <a:pPr>
              <a:spcBef>
                <a:spcPts val="800"/>
              </a:spcBef>
              <a:defRPr sz="1100">
                <a:solidFill>
                  <a:srgbClr val="F1F5F9"/>
                </a:solidFill>
              </a:defRPr>
            </a:pPr>
            <a:r>
              <a:t>• Axis-Aligned Thresholds: Naturally isolates non-linear cliff degradation points without requiring feature polynomial expansions.</a:t>
            </a:r>
          </a:p>
          <a:p>
            <a:pPr>
              <a:spcBef>
                <a:spcPts val="800"/>
              </a:spcBef>
              <a:defRPr sz="1100">
                <a:solidFill>
                  <a:srgbClr val="F1F5F9"/>
                </a:solidFill>
              </a:defRPr>
            </a:pPr>
            <a:r>
              <a:t>• Monotonic Invariance: Split choices depend strictly on rank ordering, rendering trees naturally scale-invariant.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058400" cy="365760"/>
          </a:xfrm>
          <a:prstGeom prst="rect">
            <a:avLst/>
          </a:prstGeom>
          <a:noFill/>
        </p:spPr>
        <p:txBody>
          <a:bodyPr wrap="square">
            <a:spAutoFit/>
          </a:bodyPr>
          <a:lstStyle/>
          <a:p>
            <a:pPr>
              <a:defRPr sz="1100" b="1">
                <a:solidFill>
                  <a:srgbClr val="00E599"/>
                </a:solidFill>
              </a:defRPr>
            </a:pPr>
            <a:r>
              <a:t>CO-5: MODEL EVALUATION, SELECTION &amp; VERIFICATION</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F1F5F9"/>
                </a:solidFill>
              </a:defRPr>
            </a:pPr>
            <a:r>
              <a:t>Empirical Benchmark Leaderboard &amp; Statistical Significance</a:t>
            </a:r>
          </a:p>
        </p:txBody>
      </p:sp>
      <p:graphicFrame>
        <p:nvGraphicFramePr>
          <p:cNvPr id="5" name="Table 4"/>
          <p:cNvGraphicFramePr>
            <a:graphicFrameLocks noGrp="1"/>
          </p:cNvGraphicFramePr>
          <p:nvPr/>
        </p:nvGraphicFramePr>
        <p:xfrm>
          <a:off x="731520" y="1645920"/>
          <a:ext cx="10698480" cy="2926080"/>
        </p:xfrm>
        <a:graphic>
          <a:graphicData uri="http://schemas.openxmlformats.org/drawingml/2006/table">
            <a:tbl>
              <a:tblPr firstRow="1" bandRow="1">
                <a:tableStyleId>{5C22544A-7EE6-4342-B048-85BDC9FD1C3A}</a:tableStyleId>
              </a:tblPr>
              <a:tblGrid>
                <a:gridCol w="2926080"/>
                <a:gridCol w="1828800"/>
                <a:gridCol w="1828800"/>
                <a:gridCol w="1828800"/>
                <a:gridCol w="2286000"/>
              </a:tblGrid>
              <a:tr h="418011">
                <a:tc>
                  <a:txBody>
                    <a:bodyPr/>
                    <a:lstStyle/>
                    <a:p>
                      <a:pPr>
                        <a:defRPr sz="1100" b="1">
                          <a:solidFill>
                            <a:srgbClr val="D4AF37"/>
                          </a:solidFill>
                        </a:defRPr>
                      </a:pPr>
                      <a:r>
                        <a:t>Model</a:t>
                      </a:r>
                    </a:p>
                  </a:txBody>
                  <a:tcPr>
                    <a:solidFill>
                      <a:srgbClr val="121B30"/>
                    </a:solidFill>
                  </a:tcPr>
                </a:tc>
                <a:tc>
                  <a:txBody>
                    <a:bodyPr/>
                    <a:lstStyle/>
                    <a:p>
                      <a:pPr>
                        <a:defRPr sz="1100" b="1">
                          <a:solidFill>
                            <a:srgbClr val="D4AF37"/>
                          </a:solidFill>
                        </a:defRPr>
                      </a:pPr>
                      <a:r>
                        <a:t>Test MAE ($)</a:t>
                      </a:r>
                    </a:p>
                  </a:txBody>
                  <a:tcPr>
                    <a:solidFill>
                      <a:srgbClr val="121B30"/>
                    </a:solidFill>
                  </a:tcPr>
                </a:tc>
                <a:tc>
                  <a:txBody>
                    <a:bodyPr/>
                    <a:lstStyle/>
                    <a:p>
                      <a:pPr>
                        <a:defRPr sz="1100" b="1">
                          <a:solidFill>
                            <a:srgbClr val="D4AF37"/>
                          </a:solidFill>
                        </a:defRPr>
                      </a:pPr>
                      <a:r>
                        <a:t>Test MAE (₹)</a:t>
                      </a:r>
                    </a:p>
                  </a:txBody>
                  <a:tcPr>
                    <a:solidFill>
                      <a:srgbClr val="121B30"/>
                    </a:solidFill>
                  </a:tcPr>
                </a:tc>
                <a:tc>
                  <a:txBody>
                    <a:bodyPr/>
                    <a:lstStyle/>
                    <a:p>
                      <a:pPr>
                        <a:defRPr sz="1100" b="1">
                          <a:solidFill>
                            <a:srgbClr val="D4AF37"/>
                          </a:solidFill>
                        </a:defRPr>
                      </a:pPr>
                      <a:r>
                        <a:t>Test R² Score</a:t>
                      </a:r>
                    </a:p>
                  </a:txBody>
                  <a:tcPr>
                    <a:solidFill>
                      <a:srgbClr val="121B30"/>
                    </a:solidFill>
                  </a:tcPr>
                </a:tc>
                <a:tc>
                  <a:txBody>
                    <a:bodyPr/>
                    <a:lstStyle/>
                    <a:p>
                      <a:pPr>
                        <a:defRPr sz="1100" b="1">
                          <a:solidFill>
                            <a:srgbClr val="D4AF37"/>
                          </a:solidFill>
                        </a:defRPr>
                      </a:pPr>
                      <a:r>
                        <a:t>Performance vs Baseline</a:t>
                      </a:r>
                    </a:p>
                  </a:txBody>
                  <a:tcPr>
                    <a:solidFill>
                      <a:srgbClr val="121B30"/>
                    </a:solidFill>
                  </a:tcPr>
                </a:tc>
              </a:tr>
              <a:tr h="418011">
                <a:tc>
                  <a:txBody>
                    <a:bodyPr/>
                    <a:lstStyle/>
                    <a:p>
                      <a:pPr>
                        <a:defRPr sz="1000">
                          <a:solidFill>
                            <a:srgbClr val="00E599"/>
                          </a:solidFill>
                        </a:defRPr>
                      </a:pPr>
                      <a:r>
                        <a:t>HistGradientBoosting (Champion)</a:t>
                      </a:r>
                    </a:p>
                  </a:txBody>
                  <a:tcPr>
                    <a:solidFill>
                      <a:srgbClr val="0D1424"/>
                    </a:solidFill>
                  </a:tcPr>
                </a:tc>
                <a:tc>
                  <a:txBody>
                    <a:bodyPr/>
                    <a:lstStyle/>
                    <a:p>
                      <a:pPr>
                        <a:defRPr sz="1000">
                          <a:solidFill>
                            <a:srgbClr val="00E599"/>
                          </a:solidFill>
                        </a:defRPr>
                      </a:pPr>
                      <a:r>
                        <a:t>$27.44</a:t>
                      </a:r>
                    </a:p>
                  </a:txBody>
                  <a:tcPr>
                    <a:solidFill>
                      <a:srgbClr val="0D1424"/>
                    </a:solidFill>
                  </a:tcPr>
                </a:tc>
                <a:tc>
                  <a:txBody>
                    <a:bodyPr/>
                    <a:lstStyle/>
                    <a:p>
                      <a:pPr>
                        <a:defRPr sz="1000">
                          <a:solidFill>
                            <a:srgbClr val="00E599"/>
                          </a:solidFill>
                        </a:defRPr>
                      </a:pPr>
                      <a:r>
                        <a:t>₹2,305</a:t>
                      </a:r>
                    </a:p>
                  </a:txBody>
                  <a:tcPr>
                    <a:solidFill>
                      <a:srgbClr val="0D1424"/>
                    </a:solidFill>
                  </a:tcPr>
                </a:tc>
                <a:tc>
                  <a:txBody>
                    <a:bodyPr/>
                    <a:lstStyle/>
                    <a:p>
                      <a:pPr>
                        <a:defRPr sz="1000">
                          <a:solidFill>
                            <a:srgbClr val="00E599"/>
                          </a:solidFill>
                        </a:defRPr>
                      </a:pPr>
                      <a:r>
                        <a:t>0.9877</a:t>
                      </a:r>
                    </a:p>
                  </a:txBody>
                  <a:tcPr>
                    <a:solidFill>
                      <a:srgbClr val="0D1424"/>
                    </a:solidFill>
                  </a:tcPr>
                </a:tc>
                <a:tc>
                  <a:txBody>
                    <a:bodyPr/>
                    <a:lstStyle/>
                    <a:p>
                      <a:pPr>
                        <a:defRPr sz="1000">
                          <a:solidFill>
                            <a:srgbClr val="00E599"/>
                          </a:solidFill>
                        </a:defRPr>
                      </a:pPr>
                      <a:r>
                        <a:t>66.1% Error Reduction (p &lt; 10^-48)</a:t>
                      </a:r>
                    </a:p>
                  </a:txBody>
                  <a:tcPr>
                    <a:solidFill>
                      <a:srgbClr val="0D1424"/>
                    </a:solidFill>
                  </a:tcPr>
                </a:tc>
              </a:tr>
              <a:tr h="418011">
                <a:tc>
                  <a:txBody>
                    <a:bodyPr/>
                    <a:lstStyle/>
                    <a:p>
                      <a:pPr>
                        <a:defRPr sz="1000">
                          <a:solidFill>
                            <a:srgbClr val="F1F5F9"/>
                          </a:solidFill>
                        </a:defRPr>
                      </a:pPr>
                      <a:r>
                        <a:t>Random Forest</a:t>
                      </a:r>
                    </a:p>
                  </a:txBody>
                  <a:tcPr>
                    <a:solidFill>
                      <a:srgbClr val="121B30"/>
                    </a:solidFill>
                  </a:tcPr>
                </a:tc>
                <a:tc>
                  <a:txBody>
                    <a:bodyPr/>
                    <a:lstStyle/>
                    <a:p>
                      <a:pPr>
                        <a:defRPr sz="1000">
                          <a:solidFill>
                            <a:srgbClr val="F1F5F9"/>
                          </a:solidFill>
                        </a:defRPr>
                      </a:pPr>
                      <a:r>
                        <a:t>$41.19</a:t>
                      </a:r>
                    </a:p>
                  </a:txBody>
                  <a:tcPr>
                    <a:solidFill>
                      <a:srgbClr val="121B30"/>
                    </a:solidFill>
                  </a:tcPr>
                </a:tc>
                <a:tc>
                  <a:txBody>
                    <a:bodyPr/>
                    <a:lstStyle/>
                    <a:p>
                      <a:pPr>
                        <a:defRPr sz="1000">
                          <a:solidFill>
                            <a:srgbClr val="F1F5F9"/>
                          </a:solidFill>
                        </a:defRPr>
                      </a:pPr>
                      <a:r>
                        <a:t>₹3,460</a:t>
                      </a:r>
                    </a:p>
                  </a:txBody>
                  <a:tcPr>
                    <a:solidFill>
                      <a:srgbClr val="121B30"/>
                    </a:solidFill>
                  </a:tcPr>
                </a:tc>
                <a:tc>
                  <a:txBody>
                    <a:bodyPr/>
                    <a:lstStyle/>
                    <a:p>
                      <a:pPr>
                        <a:defRPr sz="1000">
                          <a:solidFill>
                            <a:srgbClr val="F1F5F9"/>
                          </a:solidFill>
                        </a:defRPr>
                      </a:pPr>
                      <a:r>
                        <a:t>0.9738</a:t>
                      </a:r>
                    </a:p>
                  </a:txBody>
                  <a:tcPr>
                    <a:solidFill>
                      <a:srgbClr val="121B30"/>
                    </a:solidFill>
                  </a:tcPr>
                </a:tc>
                <a:tc>
                  <a:txBody>
                    <a:bodyPr/>
                    <a:lstStyle/>
                    <a:p>
                      <a:pPr>
                        <a:defRPr sz="1000">
                          <a:solidFill>
                            <a:srgbClr val="F1F5F9"/>
                          </a:solidFill>
                        </a:defRPr>
                      </a:pPr>
                      <a:r>
                        <a:t>49.1% Error Reduction (p &lt; 10^-27)</a:t>
                      </a:r>
                    </a:p>
                  </a:txBody>
                  <a:tcPr>
                    <a:solidFill>
                      <a:srgbClr val="121B30"/>
                    </a:solidFill>
                  </a:tcPr>
                </a:tc>
              </a:tr>
              <a:tr h="418011">
                <a:tc>
                  <a:txBody>
                    <a:bodyPr/>
                    <a:lstStyle/>
                    <a:p>
                      <a:pPr>
                        <a:defRPr sz="1000">
                          <a:solidFill>
                            <a:srgbClr val="F1F5F9"/>
                          </a:solidFill>
                        </a:defRPr>
                      </a:pPr>
                      <a:r>
                        <a:t>Ridge Regression (L2)</a:t>
                      </a:r>
                    </a:p>
                  </a:txBody>
                  <a:tcPr>
                    <a:solidFill>
                      <a:srgbClr val="0D1424"/>
                    </a:solidFill>
                  </a:tcPr>
                </a:tc>
                <a:tc>
                  <a:txBody>
                    <a:bodyPr/>
                    <a:lstStyle/>
                    <a:p>
                      <a:pPr>
                        <a:defRPr sz="1000">
                          <a:solidFill>
                            <a:srgbClr val="F1F5F9"/>
                          </a:solidFill>
                        </a:defRPr>
                      </a:pPr>
                      <a:r>
                        <a:t>$80.93</a:t>
                      </a:r>
                    </a:p>
                  </a:txBody>
                  <a:tcPr>
                    <a:solidFill>
                      <a:srgbClr val="0D1424"/>
                    </a:solidFill>
                  </a:tcPr>
                </a:tc>
                <a:tc>
                  <a:txBody>
                    <a:bodyPr/>
                    <a:lstStyle/>
                    <a:p>
                      <a:pPr>
                        <a:defRPr sz="1000">
                          <a:solidFill>
                            <a:srgbClr val="F1F5F9"/>
                          </a:solidFill>
                        </a:defRPr>
                      </a:pPr>
                      <a:r>
                        <a:t>₹6,798</a:t>
                      </a:r>
                    </a:p>
                  </a:txBody>
                  <a:tcPr>
                    <a:solidFill>
                      <a:srgbClr val="0D1424"/>
                    </a:solidFill>
                  </a:tcPr>
                </a:tc>
                <a:tc>
                  <a:txBody>
                    <a:bodyPr/>
                    <a:lstStyle/>
                    <a:p>
                      <a:pPr>
                        <a:defRPr sz="1000">
                          <a:solidFill>
                            <a:srgbClr val="F1F5F9"/>
                          </a:solidFill>
                        </a:defRPr>
                      </a:pPr>
                      <a:r>
                        <a:t>0.9048</a:t>
                      </a:r>
                    </a:p>
                  </a:txBody>
                  <a:tcPr>
                    <a:solidFill>
                      <a:srgbClr val="0D1424"/>
                    </a:solidFill>
                  </a:tcPr>
                </a:tc>
                <a:tc>
                  <a:txBody>
                    <a:bodyPr/>
                    <a:lstStyle/>
                    <a:p>
                      <a:pPr>
                        <a:defRPr sz="1000">
                          <a:solidFill>
                            <a:srgbClr val="F1F5F9"/>
                          </a:solidFill>
                        </a:defRPr>
                      </a:pPr>
                      <a:r>
                        <a:t>Regularized Baseline (alpha = 1.0)</a:t>
                      </a:r>
                    </a:p>
                  </a:txBody>
                  <a:tcPr>
                    <a:solidFill>
                      <a:srgbClr val="0D1424"/>
                    </a:solidFill>
                  </a:tcPr>
                </a:tc>
              </a:tr>
              <a:tr h="418011">
                <a:tc>
                  <a:txBody>
                    <a:bodyPr/>
                    <a:lstStyle/>
                    <a:p>
                      <a:pPr>
                        <a:defRPr sz="1000">
                          <a:solidFill>
                            <a:srgbClr val="F1F5F9"/>
                          </a:solidFill>
                        </a:defRPr>
                      </a:pPr>
                      <a:r>
                        <a:t>Linear Regression (OLS)</a:t>
                      </a:r>
                    </a:p>
                  </a:txBody>
                  <a:tcPr>
                    <a:solidFill>
                      <a:srgbClr val="121B30"/>
                    </a:solidFill>
                  </a:tcPr>
                </a:tc>
                <a:tc>
                  <a:txBody>
                    <a:bodyPr/>
                    <a:lstStyle/>
                    <a:p>
                      <a:pPr>
                        <a:defRPr sz="1000">
                          <a:solidFill>
                            <a:srgbClr val="F1F5F9"/>
                          </a:solidFill>
                        </a:defRPr>
                      </a:pPr>
                      <a:r>
                        <a:t>$80.90</a:t>
                      </a:r>
                    </a:p>
                  </a:txBody>
                  <a:tcPr>
                    <a:solidFill>
                      <a:srgbClr val="121B30"/>
                    </a:solidFill>
                  </a:tcPr>
                </a:tc>
                <a:tc>
                  <a:txBody>
                    <a:bodyPr/>
                    <a:lstStyle/>
                    <a:p>
                      <a:pPr>
                        <a:defRPr sz="1000">
                          <a:solidFill>
                            <a:srgbClr val="F1F5F9"/>
                          </a:solidFill>
                        </a:defRPr>
                      </a:pPr>
                      <a:r>
                        <a:t>₹6,796</a:t>
                      </a:r>
                    </a:p>
                  </a:txBody>
                  <a:tcPr>
                    <a:solidFill>
                      <a:srgbClr val="121B30"/>
                    </a:solidFill>
                  </a:tcPr>
                </a:tc>
                <a:tc>
                  <a:txBody>
                    <a:bodyPr/>
                    <a:lstStyle/>
                    <a:p>
                      <a:pPr>
                        <a:defRPr sz="1000">
                          <a:solidFill>
                            <a:srgbClr val="F1F5F9"/>
                          </a:solidFill>
                        </a:defRPr>
                      </a:pPr>
                      <a:r>
                        <a:t>0.9052</a:t>
                      </a:r>
                    </a:p>
                  </a:txBody>
                  <a:tcPr>
                    <a:solidFill>
                      <a:srgbClr val="121B30"/>
                    </a:solidFill>
                  </a:tcPr>
                </a:tc>
                <a:tc>
                  <a:txBody>
                    <a:bodyPr/>
                    <a:lstStyle/>
                    <a:p>
                      <a:pPr>
                        <a:defRPr sz="1000">
                          <a:solidFill>
                            <a:srgbClr val="F1F5F9"/>
                          </a:solidFill>
                        </a:defRPr>
                      </a:pPr>
                      <a:r>
                        <a:t>Unregularized Closed-Form</a:t>
                      </a:r>
                    </a:p>
                  </a:txBody>
                  <a:tcPr>
                    <a:solidFill>
                      <a:srgbClr val="121B30"/>
                    </a:solidFill>
                  </a:tcPr>
                </a:tc>
              </a:tr>
              <a:tr h="418011">
                <a:tc>
                  <a:txBody>
                    <a:bodyPr/>
                    <a:lstStyle/>
                    <a:p>
                      <a:pPr>
                        <a:defRPr sz="1000">
                          <a:solidFill>
                            <a:srgbClr val="F1F5F9"/>
                          </a:solidFill>
                        </a:defRPr>
                      </a:pPr>
                      <a:r>
                        <a:t>Lasso Regression (L1)</a:t>
                      </a:r>
                    </a:p>
                  </a:txBody>
                  <a:tcPr>
                    <a:solidFill>
                      <a:srgbClr val="0D1424"/>
                    </a:solidFill>
                  </a:tcPr>
                </a:tc>
                <a:tc>
                  <a:txBody>
                    <a:bodyPr/>
                    <a:lstStyle/>
                    <a:p>
                      <a:pPr>
                        <a:defRPr sz="1000">
                          <a:solidFill>
                            <a:srgbClr val="F1F5F9"/>
                          </a:solidFill>
                        </a:defRPr>
                      </a:pPr>
                      <a:r>
                        <a:t>$82.02</a:t>
                      </a:r>
                    </a:p>
                  </a:txBody>
                  <a:tcPr>
                    <a:solidFill>
                      <a:srgbClr val="0D1424"/>
                    </a:solidFill>
                  </a:tcPr>
                </a:tc>
                <a:tc>
                  <a:txBody>
                    <a:bodyPr/>
                    <a:lstStyle/>
                    <a:p>
                      <a:pPr>
                        <a:defRPr sz="1000">
                          <a:solidFill>
                            <a:srgbClr val="F1F5F9"/>
                          </a:solidFill>
                        </a:defRPr>
                      </a:pPr>
                      <a:r>
                        <a:t>₹6,890</a:t>
                      </a:r>
                    </a:p>
                  </a:txBody>
                  <a:tcPr>
                    <a:solidFill>
                      <a:srgbClr val="0D1424"/>
                    </a:solidFill>
                  </a:tcPr>
                </a:tc>
                <a:tc>
                  <a:txBody>
                    <a:bodyPr/>
                    <a:lstStyle/>
                    <a:p>
                      <a:pPr>
                        <a:defRPr sz="1000">
                          <a:solidFill>
                            <a:srgbClr val="F1F5F9"/>
                          </a:solidFill>
                        </a:defRPr>
                      </a:pPr>
                      <a:r>
                        <a:t>0.9034</a:t>
                      </a:r>
                    </a:p>
                  </a:txBody>
                  <a:tcPr>
                    <a:solidFill>
                      <a:srgbClr val="0D1424"/>
                    </a:solidFill>
                  </a:tcPr>
                </a:tc>
                <a:tc>
                  <a:txBody>
                    <a:bodyPr/>
                    <a:lstStyle/>
                    <a:p>
                      <a:pPr>
                        <a:defRPr sz="1000">
                          <a:solidFill>
                            <a:srgbClr val="F1F5F9"/>
                          </a:solidFill>
                        </a:defRPr>
                      </a:pPr>
                      <a:r>
                        <a:t>Feature Sparsity Baseline</a:t>
                      </a:r>
                    </a:p>
                  </a:txBody>
                  <a:tcPr>
                    <a:solidFill>
                      <a:srgbClr val="0D1424"/>
                    </a:solidFill>
                  </a:tcPr>
                </a:tc>
              </a:tr>
              <a:tr h="418014">
                <a:tc>
                  <a:txBody>
                    <a:bodyPr/>
                    <a:lstStyle/>
                    <a:p>
                      <a:pPr>
                        <a:defRPr sz="1000">
                          <a:solidFill>
                            <a:srgbClr val="F1F5F9"/>
                          </a:solidFill>
                        </a:defRPr>
                      </a:pPr>
                      <a:r>
                        <a:t>ElasticNet</a:t>
                      </a:r>
                    </a:p>
                  </a:txBody>
                  <a:tcPr>
                    <a:solidFill>
                      <a:srgbClr val="121B30"/>
                    </a:solidFill>
                  </a:tcPr>
                </a:tc>
                <a:tc>
                  <a:txBody>
                    <a:bodyPr/>
                    <a:lstStyle/>
                    <a:p>
                      <a:pPr>
                        <a:defRPr sz="1000">
                          <a:solidFill>
                            <a:srgbClr val="F1F5F9"/>
                          </a:solidFill>
                        </a:defRPr>
                      </a:pPr>
                      <a:r>
                        <a:t>$117.30</a:t>
                      </a:r>
                    </a:p>
                  </a:txBody>
                  <a:tcPr>
                    <a:solidFill>
                      <a:srgbClr val="121B30"/>
                    </a:solidFill>
                  </a:tcPr>
                </a:tc>
                <a:tc>
                  <a:txBody>
                    <a:bodyPr/>
                    <a:lstStyle/>
                    <a:p>
                      <a:pPr>
                        <a:defRPr sz="1000">
                          <a:solidFill>
                            <a:srgbClr val="F1F5F9"/>
                          </a:solidFill>
                        </a:defRPr>
                      </a:pPr>
                      <a:r>
                        <a:t>₹9,853</a:t>
                      </a:r>
                    </a:p>
                  </a:txBody>
                  <a:tcPr>
                    <a:solidFill>
                      <a:srgbClr val="121B30"/>
                    </a:solidFill>
                  </a:tcPr>
                </a:tc>
                <a:tc>
                  <a:txBody>
                    <a:bodyPr/>
                    <a:lstStyle/>
                    <a:p>
                      <a:pPr>
                        <a:defRPr sz="1000">
                          <a:solidFill>
                            <a:srgbClr val="F1F5F9"/>
                          </a:solidFill>
                        </a:defRPr>
                      </a:pPr>
                      <a:r>
                        <a:t>0.8060</a:t>
                      </a:r>
                    </a:p>
                  </a:txBody>
                  <a:tcPr>
                    <a:solidFill>
                      <a:srgbClr val="121B30"/>
                    </a:solidFill>
                  </a:tcPr>
                </a:tc>
                <a:tc>
                  <a:txBody>
                    <a:bodyPr/>
                    <a:lstStyle/>
                    <a:p>
                      <a:pPr>
                        <a:defRPr sz="1000">
                          <a:solidFill>
                            <a:srgbClr val="F1F5F9"/>
                          </a:solidFill>
                        </a:defRPr>
                      </a:pPr>
                      <a:r>
                        <a:t>Convex Combination (l1-ratio = 0.5)</a:t>
                      </a:r>
                    </a:p>
                  </a:txBody>
                  <a:tcPr>
                    <a:solidFill>
                      <a:srgbClr val="121B30"/>
                    </a:solidFill>
                  </a:tcPr>
                </a:tc>
              </a:tr>
            </a:tbl>
          </a:graphicData>
        </a:graphic>
      </p:graphicFrame>
      <p:sp>
        <p:nvSpPr>
          <p:cNvPr id="6" name="Rounded Rectangle 5"/>
          <p:cNvSpPr/>
          <p:nvPr/>
        </p:nvSpPr>
        <p:spPr>
          <a:xfrm>
            <a:off x="731520" y="4846320"/>
            <a:ext cx="10698480" cy="1463040"/>
          </a:xfrm>
          <a:prstGeom prst="roundRect">
            <a:avLst/>
          </a:prstGeom>
          <a:solidFill>
            <a:srgbClr val="0D1424"/>
          </a:solidFill>
          <a:ln>
            <a:solidFill>
              <a:srgbClr val="00E5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D4AF37"/>
                </a:solidFill>
              </a:defRPr>
            </a:pPr>
            <a:r>
              <a:t>🔬 Scientific Verification: Paired Student's t-Test on Test Errors</a:t>
            </a:r>
          </a:p>
          <a:p>
            <a:pPr>
              <a:spcBef>
                <a:spcPts val="400"/>
              </a:spcBef>
              <a:defRPr sz="1100">
                <a:solidFill>
                  <a:srgbClr val="F1F5F9"/>
                </a:solidFill>
              </a:defRPr>
            </a:pPr>
            <a:r>
              <a:t>• Null Hypothesis H0: Mean absolute error of HistGBDT equals Ridge baseline (mu_HistGBDT = mu_Ridge).</a:t>
            </a:r>
            <a:br/>
            <a:r>
              <a:t>• Empirical Result: t-statistic = 16.82, p-value = 2.8 x 10^-49 &lt;&lt; 0.01.</a:t>
            </a:r>
            <a:br/>
            <a:r>
              <a:t>• Conclusion: We reject H0 with extreme statistical significance. HistGradientBoosting's $53.49 (₹4,493) average margin per device is scientifically proven superior.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058400" cy="365760"/>
          </a:xfrm>
          <a:prstGeom prst="rect">
            <a:avLst/>
          </a:prstGeom>
          <a:noFill/>
        </p:spPr>
        <p:txBody>
          <a:bodyPr wrap="square">
            <a:spAutoFit/>
          </a:bodyPr>
          <a:lstStyle/>
          <a:p>
            <a:pPr>
              <a:defRPr sz="1100" b="1">
                <a:solidFill>
                  <a:srgbClr val="00E599"/>
                </a:solidFill>
              </a:defRPr>
            </a:pPr>
            <a:r>
              <a:t>CO-4: UNSUPERVISED LEARNING &amp; ANOMALY GUARDRAILS</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F1F5F9"/>
                </a:solidFill>
              </a:defRPr>
            </a:pPr>
            <a:r>
              <a:t>Latent Market Segmentation &amp; Real-Time Fraud Auditing</a:t>
            </a:r>
          </a:p>
        </p:txBody>
      </p:sp>
      <p:sp>
        <p:nvSpPr>
          <p:cNvPr id="5" name="Rounded Rectangle 4"/>
          <p:cNvSpPr/>
          <p:nvPr/>
        </p:nvSpPr>
        <p:spPr>
          <a:xfrm>
            <a:off x="731520" y="1645920"/>
            <a:ext cx="3383280" cy="4389120"/>
          </a:xfrm>
          <a:prstGeom prst="roundRect">
            <a:avLst/>
          </a:prstGeom>
          <a:solidFill>
            <a:srgbClr val="0D1424"/>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D4AF37"/>
                </a:solidFill>
              </a:defRPr>
            </a:pPr>
            <a:r>
              <a:t>K-Means++ Clustering</a:t>
            </a:r>
          </a:p>
          <a:p>
            <a:pPr>
              <a:spcBef>
                <a:spcPts val="800"/>
              </a:spcBef>
              <a:defRPr sz="1100">
                <a:solidFill>
                  <a:srgbClr val="F1F5F9"/>
                </a:solidFill>
              </a:defRPr>
            </a:pPr>
            <a:r>
              <a:t>• Centroid initialization via D(x)^2 probability distribution prevents poor local minima.</a:t>
            </a:r>
          </a:p>
          <a:p>
            <a:pPr>
              <a:spcBef>
                <a:spcPts val="800"/>
              </a:spcBef>
              <a:defRPr sz="1100">
                <a:solidFill>
                  <a:srgbClr val="F1F5F9"/>
                </a:solidFill>
              </a:defRPr>
            </a:pPr>
            <a:r>
              <a:t>• Evaluated across Elbow curve inertia &amp; Silhouette coefficient peaks.</a:t>
            </a:r>
          </a:p>
          <a:p>
            <a:pPr>
              <a:spcBef>
                <a:spcPts val="800"/>
              </a:spcBef>
              <a:defRPr sz="1100">
                <a:solidFill>
                  <a:srgbClr val="F1F5F9"/>
                </a:solidFill>
              </a:defRPr>
            </a:pPr>
            <a:r>
              <a:t>• Identifies K = 4 latent market tiers: Budget Entry, Workhorse, Depreciated Flagship, Luxury.</a:t>
            </a:r>
          </a:p>
          <a:p>
            <a:pPr>
              <a:spcBef>
                <a:spcPts val="800"/>
              </a:spcBef>
              <a:defRPr sz="1100">
                <a:solidFill>
                  <a:srgbClr val="F1F5F9"/>
                </a:solidFill>
              </a:defRPr>
            </a:pPr>
            <a:r>
              <a:t>• Powers automatic tier badges in valuation reports.</a:t>
            </a:r>
          </a:p>
        </p:txBody>
      </p:sp>
      <p:sp>
        <p:nvSpPr>
          <p:cNvPr id="6" name="Rounded Rectangle 5"/>
          <p:cNvSpPr/>
          <p:nvPr/>
        </p:nvSpPr>
        <p:spPr>
          <a:xfrm>
            <a:off x="4389120" y="1645920"/>
            <a:ext cx="3383280" cy="4389120"/>
          </a:xfrm>
          <a:prstGeom prst="roundRect">
            <a:avLst/>
          </a:prstGeom>
          <a:solidFill>
            <a:srgbClr val="0D1424"/>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1F5F9"/>
                </a:solidFill>
              </a:defRPr>
            </a:pPr>
            <a:r>
              <a:t>Principal Component Analysis (PCA)</a:t>
            </a:r>
          </a:p>
          <a:p>
            <a:pPr>
              <a:spcBef>
                <a:spcPts val="800"/>
              </a:spcBef>
              <a:defRPr sz="1100">
                <a:solidFill>
                  <a:srgbClr val="F1F5F9"/>
                </a:solidFill>
              </a:defRPr>
            </a:pPr>
            <a:r>
              <a:t>• Eigen-decomposition of the covariance matrix of 9 hardware specifications.</a:t>
            </a:r>
          </a:p>
          <a:p>
            <a:pPr>
              <a:spcBef>
                <a:spcPts val="800"/>
              </a:spcBef>
              <a:defRPr sz="1100">
                <a:solidFill>
                  <a:srgbClr val="F1F5F9"/>
                </a:solidFill>
              </a:defRPr>
            </a:pPr>
            <a:r>
              <a:t>• Top 2 principal components capture 67.7% of total dataset variance.</a:t>
            </a:r>
          </a:p>
          <a:p>
            <a:pPr>
              <a:spcBef>
                <a:spcPts val="800"/>
              </a:spcBef>
              <a:defRPr sz="1100">
                <a:solidFill>
                  <a:srgbClr val="F1F5F9"/>
                </a:solidFill>
              </a:defRPr>
            </a:pPr>
            <a:r>
              <a:t>• Enables 2D/3D cluster scatter visualization on Tab 3 of the live platform.</a:t>
            </a:r>
          </a:p>
          <a:p>
            <a:pPr>
              <a:spcBef>
                <a:spcPts val="800"/>
              </a:spcBef>
              <a:defRPr sz="1100">
                <a:solidFill>
                  <a:srgbClr val="F1F5F9"/>
                </a:solidFill>
              </a:defRPr>
            </a:pPr>
            <a:r>
              <a:t>• Confirms continuous separation between depreciated and flagship hardware.</a:t>
            </a:r>
          </a:p>
        </p:txBody>
      </p:sp>
      <p:sp>
        <p:nvSpPr>
          <p:cNvPr id="7" name="Rounded Rectangle 6"/>
          <p:cNvSpPr/>
          <p:nvPr/>
        </p:nvSpPr>
        <p:spPr>
          <a:xfrm>
            <a:off x="8046720" y="1645920"/>
            <a:ext cx="3383280" cy="4389120"/>
          </a:xfrm>
          <a:prstGeom prst="roundRect">
            <a:avLst/>
          </a:prstGeom>
          <a:solidFill>
            <a:srgbClr val="0D1424"/>
          </a:solidFill>
          <a:ln>
            <a:solidFill>
              <a:srgbClr val="00E5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E599"/>
                </a:solidFill>
              </a:defRPr>
            </a:pPr>
            <a:r>
              <a:t>Isolation Forest (Fraud Guardrail)</a:t>
            </a:r>
          </a:p>
          <a:p>
            <a:pPr>
              <a:spcBef>
                <a:spcPts val="800"/>
              </a:spcBef>
              <a:defRPr sz="1100">
                <a:solidFill>
                  <a:srgbClr val="F1F5F9"/>
                </a:solidFill>
              </a:defRPr>
            </a:pPr>
            <a:r>
              <a:t>• Isolates anomalies instead of profiling normal clusters using random axis cuts.</a:t>
            </a:r>
          </a:p>
          <a:p>
            <a:pPr>
              <a:spcBef>
                <a:spcPts val="800"/>
              </a:spcBef>
              <a:defRPr sz="1100">
                <a:solidFill>
                  <a:srgbClr val="F1F5F9"/>
                </a:solidFill>
              </a:defRPr>
            </a:pPr>
            <a:r>
              <a:t>• Extreme anomalies require significantly fewer tree splits (shorter path lengths E[h(x)]).</a:t>
            </a:r>
          </a:p>
          <a:p>
            <a:pPr>
              <a:spcBef>
                <a:spcPts val="800"/>
              </a:spcBef>
              <a:defRPr sz="1100">
                <a:solidFill>
                  <a:srgbClr val="F1F5F9"/>
                </a:solidFill>
              </a:defRPr>
            </a:pPr>
            <a:r>
              <a:t>• Contamination rate = 0.04 screens fraudulent inputs (e.g. ₹10,000 iPhone 16 Pro Max).</a:t>
            </a:r>
          </a:p>
          <a:p>
            <a:pPr>
              <a:spcBef>
                <a:spcPts val="800"/>
              </a:spcBef>
              <a:defRPr sz="1100">
                <a:solidFill>
                  <a:srgbClr val="F1F5F9"/>
                </a:solidFill>
              </a:defRPr>
            </a:pPr>
            <a:r>
              <a:t>• Real-time guardrail executes prior to regressor inference.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058400" cy="365760"/>
          </a:xfrm>
          <a:prstGeom prst="rect">
            <a:avLst/>
          </a:prstGeom>
          <a:noFill/>
        </p:spPr>
        <p:txBody>
          <a:bodyPr wrap="square">
            <a:spAutoFit/>
          </a:bodyPr>
          <a:lstStyle/>
          <a:p>
            <a:pPr>
              <a:defRPr sz="1100" b="1">
                <a:solidFill>
                  <a:srgbClr val="00E599"/>
                </a:solidFill>
              </a:defRPr>
            </a:pPr>
            <a:r>
              <a:t>CO-6: ML ENGINEERING — FROM NOTEBOOK TO PRODUCTION</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F1F5F9"/>
                </a:solidFill>
              </a:defRPr>
            </a:pPr>
            <a:r>
              <a:t>FastAPI Serving, Kolmogorov-Smirnov Drift &amp; Retraining</a:t>
            </a:r>
          </a:p>
        </p:txBody>
      </p:sp>
      <p:sp>
        <p:nvSpPr>
          <p:cNvPr id="5" name="Rounded Rectangle 4"/>
          <p:cNvSpPr/>
          <p:nvPr/>
        </p:nvSpPr>
        <p:spPr>
          <a:xfrm>
            <a:off x="731520" y="1645920"/>
            <a:ext cx="10698480" cy="1325880"/>
          </a:xfrm>
          <a:prstGeom prst="roundRect">
            <a:avLst/>
          </a:prstGeom>
          <a:solidFill>
            <a:srgbClr val="0D1424"/>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D4AF37"/>
                </a:solidFill>
              </a:defRPr>
            </a:pPr>
            <a:r>
              <a:t>FastAPI Microservice (src/api.py)</a:t>
            </a:r>
          </a:p>
          <a:p>
            <a:pPr>
              <a:spcBef>
                <a:spcPts val="300"/>
              </a:spcBef>
              <a:defRPr sz="1100">
                <a:solidFill>
                  <a:srgbClr val="F1F5F9"/>
                </a:solidFill>
              </a:defRPr>
            </a:pPr>
            <a:r>
              <a:t>• Endpoints: POST /predict, POST /predict/batch, GET /health, GET /monitor/drift.</a:t>
            </a:r>
          </a:p>
          <a:p>
            <a:pPr>
              <a:spcBef>
                <a:spcPts val="300"/>
              </a:spcBef>
              <a:defRPr sz="1100">
                <a:solidFill>
                  <a:srgbClr val="F1F5F9"/>
                </a:solidFill>
              </a:defRPr>
            </a:pPr>
            <a:r>
              <a:t>• Pydantic v2 data contracts enforce strict type checking and range limits.</a:t>
            </a:r>
          </a:p>
          <a:p>
            <a:pPr>
              <a:spcBef>
                <a:spcPts val="300"/>
              </a:spcBef>
              <a:defRPr sz="1100">
                <a:solidFill>
                  <a:srgbClr val="F1F5F9"/>
                </a:solidFill>
              </a:defRPr>
            </a:pPr>
            <a:r>
              <a:t>• Sub-10ms response latency; outputs 90% confidence intervals via residual standard deviation.</a:t>
            </a:r>
          </a:p>
        </p:txBody>
      </p:sp>
      <p:sp>
        <p:nvSpPr>
          <p:cNvPr id="6" name="Rounded Rectangle 5"/>
          <p:cNvSpPr/>
          <p:nvPr/>
        </p:nvSpPr>
        <p:spPr>
          <a:xfrm>
            <a:off x="731520" y="3154680"/>
            <a:ext cx="10698480" cy="1325880"/>
          </a:xfrm>
          <a:prstGeom prst="roundRect">
            <a:avLst/>
          </a:prstGeom>
          <a:solidFill>
            <a:srgbClr val="0D1424"/>
          </a:solidFill>
          <a:ln>
            <a:solidFill>
              <a:srgbClr val="00E5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E599"/>
                </a:solidFill>
              </a:defRPr>
            </a:pPr>
            <a:r>
              <a:t>Kolmogorov-Smirnov Covariate Drift (src/monitoring.py)</a:t>
            </a:r>
          </a:p>
          <a:p>
            <a:pPr>
              <a:spcBef>
                <a:spcPts val="300"/>
              </a:spcBef>
              <a:defRPr sz="1100">
                <a:solidFill>
                  <a:srgbClr val="F1F5F9"/>
                </a:solidFill>
              </a:defRPr>
            </a:pPr>
            <a:r>
              <a:t>• Continuous two-sample KS hypothesis test: D = sup_x |F_prod(x) - F_ref(x)|.</a:t>
            </a:r>
          </a:p>
          <a:p>
            <a:pPr>
              <a:spcBef>
                <a:spcPts val="300"/>
              </a:spcBef>
              <a:defRPr sz="1100">
                <a:solidFill>
                  <a:srgbClr val="F1F5F9"/>
                </a:solidFill>
              </a:defRPr>
            </a:pPr>
            <a:r>
              <a:t>• Compares empirical cumulative distribution of live production requests against reference training data.</a:t>
            </a:r>
          </a:p>
          <a:p>
            <a:pPr>
              <a:spcBef>
                <a:spcPts val="300"/>
              </a:spcBef>
              <a:defRPr sz="1100">
                <a:solidFill>
                  <a:srgbClr val="F1F5F9"/>
                </a:solidFill>
              </a:defRPr>
            </a:pPr>
            <a:r>
              <a:t>• Automatically flags covariate shift when p &lt; 0.05 on 2 or more features.</a:t>
            </a:r>
          </a:p>
        </p:txBody>
      </p:sp>
      <p:sp>
        <p:nvSpPr>
          <p:cNvPr id="7" name="Rounded Rectangle 6"/>
          <p:cNvSpPr/>
          <p:nvPr/>
        </p:nvSpPr>
        <p:spPr>
          <a:xfrm>
            <a:off x="731520" y="4663440"/>
            <a:ext cx="10698480" cy="1325880"/>
          </a:xfrm>
          <a:prstGeom prst="roundRect">
            <a:avLst/>
          </a:prstGeom>
          <a:solidFill>
            <a:srgbClr val="0D1424"/>
          </a:solidFill>
          <a:ln>
            <a:solidFill>
              <a:srgbClr val="2832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E599"/>
                </a:solidFill>
              </a:defRPr>
            </a:pPr>
            <a:r>
              <a:t>Champion-Challenger Retraining Loop (src/retrain.py)</a:t>
            </a:r>
          </a:p>
          <a:p>
            <a:pPr>
              <a:spcBef>
                <a:spcPts val="300"/>
              </a:spcBef>
              <a:defRPr sz="1100">
                <a:solidFill>
                  <a:srgbClr val="F1F5F9"/>
                </a:solidFill>
              </a:defRPr>
            </a:pPr>
            <a:r>
              <a:t>• Drift alerts trigger automated offline retraining on accumulated SQLite telemetry.</a:t>
            </a:r>
          </a:p>
          <a:p>
            <a:pPr>
              <a:spcBef>
                <a:spcPts val="300"/>
              </a:spcBef>
              <a:defRPr sz="1100">
                <a:solidFill>
                  <a:srgbClr val="F1F5F9"/>
                </a:solidFill>
              </a:defRPr>
            </a:pPr>
            <a:r>
              <a:t>• Candidate challenger models must beat the Champion's held-out Test MAE before automated redeployment.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058400" cy="365760"/>
          </a:xfrm>
          <a:prstGeom prst="rect">
            <a:avLst/>
          </a:prstGeom>
          <a:noFill/>
        </p:spPr>
        <p:txBody>
          <a:bodyPr wrap="square">
            <a:spAutoFit/>
          </a:bodyPr>
          <a:lstStyle/>
          <a:p>
            <a:pPr>
              <a:defRPr sz="1100" b="1">
                <a:solidFill>
                  <a:srgbClr val="00E599"/>
                </a:solidFill>
              </a:defRPr>
            </a:pPr>
            <a:r>
              <a:t>PRODUCTION DEPLOYMENT &amp; LIVE STUDIO</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F1F5F9"/>
                </a:solidFill>
              </a:defRPr>
            </a:pPr>
            <a:r>
              <a:t>Interactive Experience &amp; Production URLs</a:t>
            </a:r>
          </a:p>
        </p:txBody>
      </p:sp>
      <p:sp>
        <p:nvSpPr>
          <p:cNvPr id="5" name="Rounded Rectangle 4"/>
          <p:cNvSpPr/>
          <p:nvPr/>
        </p:nvSpPr>
        <p:spPr>
          <a:xfrm>
            <a:off x="731520" y="1645920"/>
            <a:ext cx="5120640" cy="4389120"/>
          </a:xfrm>
          <a:prstGeom prst="roundRect">
            <a:avLst/>
          </a:prstGeom>
          <a:solidFill>
            <a:srgbClr val="0D1424"/>
          </a:solidFill>
          <a:ln>
            <a:solidFill>
              <a:srgbClr val="00E5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E599"/>
                </a:solidFill>
              </a:defRPr>
            </a:pPr>
            <a:r>
              <a:t>🌐 Live Deployment Endpoints</a:t>
            </a:r>
          </a:p>
          <a:p>
            <a:pPr>
              <a:spcBef>
                <a:spcPts val="800"/>
              </a:spcBef>
              <a:defRPr sz="1100">
                <a:solidFill>
                  <a:srgbClr val="F1F5F9"/>
                </a:solidFill>
              </a:defRPr>
            </a:pPr>
            <a:r>
              <a:t>• Live Streamlit Cloud Studio:</a:t>
            </a:r>
            <a:br/>
            <a:r>
              <a:t>  https://revalueai-xhrrkbmbuexrswr3ermwnf.streamlit.app/</a:t>
            </a:r>
          </a:p>
          <a:p>
            <a:pPr>
              <a:spcBef>
                <a:spcPts val="800"/>
              </a:spcBef>
              <a:defRPr sz="1100">
                <a:solidFill>
                  <a:srgbClr val="F1F5F9"/>
                </a:solidFill>
              </a:defRPr>
            </a:pPr>
            <a:r>
              <a:t>• GitHub Source Repository:</a:t>
            </a:r>
            <a:br/>
            <a:r>
              <a:t>  https://github.com/dhanush-chanchali/ReValue_AI</a:t>
            </a:r>
          </a:p>
          <a:p>
            <a:pPr>
              <a:spcBef>
                <a:spcPts val="800"/>
              </a:spcBef>
              <a:defRPr sz="1100">
                <a:solidFill>
                  <a:srgbClr val="F1F5F9"/>
                </a:solidFill>
              </a:defRPr>
            </a:pPr>
            <a:r>
              <a:t>• Automated Unit Test Suite:</a:t>
            </a:r>
            <a:br/>
            <a:r>
              <a:t>  7/7 passing unit &amp; integration tests (pytest tests/ -v)</a:t>
            </a:r>
          </a:p>
          <a:p>
            <a:pPr>
              <a:spcBef>
                <a:spcPts val="800"/>
              </a:spcBef>
              <a:defRPr sz="1100">
                <a:solidFill>
                  <a:srgbClr val="F1F5F9"/>
                </a:solidFill>
              </a:defRPr>
            </a:pPr>
            <a:r>
              <a:t>• FastAPI REST Microservice:</a:t>
            </a:r>
            <a:br/>
            <a:r>
              <a:t>  FastAPI on port 8000 with Swagger UI at /docs</a:t>
            </a:r>
          </a:p>
          <a:p>
            <a:pPr>
              <a:spcBef>
                <a:spcPts val="800"/>
              </a:spcBef>
              <a:defRPr sz="1100">
                <a:solidFill>
                  <a:srgbClr val="F1F5F9"/>
                </a:solidFill>
              </a:defRPr>
            </a:pPr>
            <a:r>
              <a:t>• Unified One-Command Starter:</a:t>
            </a:r>
            <a:br/>
            <a:r>
              <a:t>  ./start.sh orchestrates both backend and frontend.</a:t>
            </a:r>
          </a:p>
        </p:txBody>
      </p:sp>
      <p:sp>
        <p:nvSpPr>
          <p:cNvPr id="6" name="Rounded Rectangle 5"/>
          <p:cNvSpPr/>
          <p:nvPr/>
        </p:nvSpPr>
        <p:spPr>
          <a:xfrm>
            <a:off x="6309360" y="1645920"/>
            <a:ext cx="5120640" cy="4389120"/>
          </a:xfrm>
          <a:prstGeom prst="roundRect">
            <a:avLst/>
          </a:prstGeom>
          <a:solidFill>
            <a:srgbClr val="0D1424"/>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D4AF37"/>
                </a:solidFill>
              </a:defRPr>
            </a:pPr>
            <a:r>
              <a:t>🖥️ In-App Capabilities (5 Tabs)</a:t>
            </a:r>
          </a:p>
          <a:p>
            <a:pPr>
              <a:spcBef>
                <a:spcPts val="600"/>
              </a:spcBef>
              <a:defRPr sz="1100">
                <a:solidFill>
                  <a:srgbClr val="F1F5F9"/>
                </a:solidFill>
              </a:defRPr>
            </a:pPr>
            <a:r>
              <a:t>1. 📱 Tab 1 (Sell Smartphone): 3-Screen wizard, release-year guardrails, 60fps battery slider, live ₹ pricing.</a:t>
            </a:r>
          </a:p>
          <a:p>
            <a:pPr>
              <a:spcBef>
                <a:spcPts val="600"/>
              </a:spcBef>
              <a:defRPr sz="1100">
                <a:solidFill>
                  <a:srgbClr val="F1F5F9"/>
                </a:solidFill>
              </a:defRPr>
            </a:pPr>
            <a:r>
              <a:t>2. 💻 Tab 2 (Sell Laptop): Specs configurator, processor tiers, SSD wear flags, confidence intervals.</a:t>
            </a:r>
          </a:p>
          <a:p>
            <a:pPr>
              <a:spcBef>
                <a:spcPts val="600"/>
              </a:spcBef>
              <a:defRPr sz="1100">
                <a:solidFill>
                  <a:srgbClr val="F1F5F9"/>
                </a:solidFill>
              </a:defRPr>
            </a:pPr>
            <a:r>
              <a:t>3. 📊 Tab 3 (ML Model Insights): Benchmarks, residual homoscedasticity, 2D PCA cluster map.</a:t>
            </a:r>
          </a:p>
          <a:p>
            <a:pPr>
              <a:spcBef>
                <a:spcPts val="600"/>
              </a:spcBef>
              <a:defRPr sz="1100">
                <a:solidFill>
                  <a:srgbClr val="F1F5F9"/>
                </a:solidFill>
              </a:defRPr>
            </a:pPr>
            <a:r>
              <a:t>4. 🛡️ Tab 4 (MLOps Command Centre): Real-time SQLite request logs, KS-test telemetry, one-click retrain.</a:t>
            </a:r>
          </a:p>
          <a:p>
            <a:pPr>
              <a:spcBef>
                <a:spcPts val="600"/>
              </a:spcBef>
              <a:defRPr sz="1100">
                <a:solidFill>
                  <a:srgbClr val="F1F5F9"/>
                </a:solidFill>
              </a:defRPr>
            </a:pPr>
            <a:r>
              <a:t>5. 📘 Tab 5 (Syllabus Coverage): KaTeX vector math viewer for all 20 curriculum concepts and 11 algorithms.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058400" cy="365760"/>
          </a:xfrm>
          <a:prstGeom prst="rect">
            <a:avLst/>
          </a:prstGeom>
          <a:noFill/>
        </p:spPr>
        <p:txBody>
          <a:bodyPr wrap="square">
            <a:spAutoFit/>
          </a:bodyPr>
          <a:lstStyle/>
          <a:p>
            <a:pPr>
              <a:defRPr sz="1100" b="1">
                <a:solidFill>
                  <a:srgbClr val="00E599"/>
                </a:solidFill>
              </a:defRPr>
            </a:pPr>
            <a:r>
              <a:t>SUMMARY &amp; CONCLUSION</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F1F5F9"/>
                </a:solidFill>
              </a:defRPr>
            </a:pPr>
            <a:r>
              <a:t>Key Takeaways &amp; Academic Contribution</a:t>
            </a:r>
          </a:p>
        </p:txBody>
      </p:sp>
      <p:sp>
        <p:nvSpPr>
          <p:cNvPr id="5" name="Rounded Rectangle 4"/>
          <p:cNvSpPr/>
          <p:nvPr/>
        </p:nvSpPr>
        <p:spPr>
          <a:xfrm>
            <a:off x="731520" y="1645920"/>
            <a:ext cx="10698480" cy="4389120"/>
          </a:xfrm>
          <a:prstGeom prst="roundRect">
            <a:avLst/>
          </a:prstGeom>
          <a:solidFill>
            <a:srgbClr val="0D1424"/>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D4AF37"/>
                </a:solidFill>
              </a:defRPr>
            </a:pPr>
            <a:r>
              <a:t>🎯 Summary of Contributions</a:t>
            </a:r>
          </a:p>
          <a:p>
            <a:pPr>
              <a:spcBef>
                <a:spcPts val="1000"/>
              </a:spcBef>
              <a:defRPr sz="1200">
                <a:solidFill>
                  <a:srgbClr val="F1F5F9"/>
                </a:solidFill>
              </a:defRPr>
            </a:pPr>
            <a:r>
              <a:t>1. Solved Market Asymmetry: Built an empirical, fair-market electronics resale valuation engine trained across 2,500+ device profiles.</a:t>
            </a:r>
          </a:p>
          <a:p>
            <a:pPr>
              <a:spcBef>
                <a:spcPts val="1000"/>
              </a:spcBef>
              <a:defRPr sz="1200">
                <a:solidFill>
                  <a:srgbClr val="F1F5F9"/>
                </a:solidFill>
              </a:defRPr>
            </a:pPr>
            <a:r>
              <a:t>2. Proven Model Superiority: Champion HistGradientBoosting achieves R² = 0.9877 and ₹2,305 MAE, beating linear baselines by 66.1% (p &lt; 10^-48).</a:t>
            </a:r>
          </a:p>
          <a:p>
            <a:pPr>
              <a:spcBef>
                <a:spcPts val="1000"/>
              </a:spcBef>
              <a:defRPr sz="1200">
                <a:solidFill>
                  <a:srgbClr val="F1F5F9"/>
                </a:solidFill>
              </a:defRPr>
            </a:pPr>
            <a:r>
              <a:t>3. Multi-Layer Guardrails: Integrated Isolation Forest (contamination = 0.04) and K-Means++ clustering for real-time fraud and market tier segmentation.</a:t>
            </a:r>
          </a:p>
          <a:p>
            <a:pPr>
              <a:spcBef>
                <a:spcPts val="1000"/>
              </a:spcBef>
              <a:defRPr sz="1200">
                <a:solidFill>
                  <a:srgbClr val="F1F5F9"/>
                </a:solidFill>
              </a:defRPr>
            </a:pPr>
            <a:r>
              <a:t>4. Production Readiness: FastAPI microservice, Streamlit Cloud live deployment, and Kolmogorov-Smirnov covariate drift telemetry.</a:t>
            </a:r>
          </a:p>
          <a:p>
            <a:pPr>
              <a:spcBef>
                <a:spcPts val="1000"/>
              </a:spcBef>
              <a:defRPr sz="1200">
                <a:solidFill>
                  <a:srgbClr val="F1F5F9"/>
                </a:solidFill>
              </a:defRPr>
            </a:pPr>
            <a:r>
              <a:t>5. Full Curriculum Coverage: Seamless execution across modules CO-1 through CO-6 with zero training-serving skew.</a:t>
            </a:r>
          </a:p>
          <a:p>
            <a:pPr algn="ctr">
              <a:spcBef>
                <a:spcPts val="1600"/>
              </a:spcBef>
              <a:defRPr sz="1400" b="1">
                <a:solidFill>
                  <a:srgbClr val="00E599"/>
                </a:solidFill>
              </a:defRPr>
            </a:pPr>
            <a:r>
              <a:t>Thank you! I welcome your questions and viva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